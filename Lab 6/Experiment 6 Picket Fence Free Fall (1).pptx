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327" r:id="rId6"/>
    <p:sldId id="328" r:id="rId7"/>
    <p:sldId id="318" r:id="rId8"/>
    <p:sldId id="320" r:id="rId9"/>
    <p:sldId id="311" r:id="rId10"/>
    <p:sldId id="319" r:id="rId11"/>
    <p:sldId id="321" r:id="rId12"/>
    <p:sldId id="322" r:id="rId13"/>
    <p:sldId id="323" r:id="rId14"/>
    <p:sldId id="324" r:id="rId15"/>
    <p:sldId id="325" r:id="rId16"/>
    <p:sldId id="326"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FF139F-ED06-4CC9-9533-D2A29FF6B654}" v="25" dt="2024-02-22T12:51:32.0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02" autoAdjust="0"/>
    <p:restoredTop sz="94673" autoAdjust="0"/>
  </p:normalViewPr>
  <p:slideViewPr>
    <p:cSldViewPr snapToGrid="0">
      <p:cViewPr varScale="1">
        <p:scale>
          <a:sx n="93" d="100"/>
          <a:sy n="93" d="100"/>
        </p:scale>
        <p:origin x="156" y="29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2/12/2026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package" Target="../embeddings/Microsoft_Word_Document.docx"/><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5821" y="520139"/>
            <a:ext cx="9283958" cy="1646302"/>
          </a:xfrm>
        </p:spPr>
        <p:txBody>
          <a:bodyPr/>
          <a:lstStyle/>
          <a:p>
            <a:pPr algn="l"/>
            <a:r>
              <a:rPr lang="en-US" dirty="0">
                <a:solidFill>
                  <a:srgbClr val="1391BC"/>
                </a:solidFill>
              </a:rPr>
              <a:t>Lab 6: Picket Fence Free Fall </a:t>
            </a:r>
          </a:p>
        </p:txBody>
      </p:sp>
      <p:sp>
        <p:nvSpPr>
          <p:cNvPr id="3" name="Subtitle 2"/>
          <p:cNvSpPr>
            <a:spLocks noGrp="1"/>
          </p:cNvSpPr>
          <p:nvPr>
            <p:ph type="subTitle" idx="1"/>
          </p:nvPr>
        </p:nvSpPr>
        <p:spPr>
          <a:xfrm>
            <a:off x="1507067" y="2698286"/>
            <a:ext cx="7766936" cy="1096899"/>
          </a:xfrm>
        </p:spPr>
        <p:txBody>
          <a:bodyPr>
            <a:normAutofit/>
          </a:bodyPr>
          <a:lstStyle/>
          <a:p>
            <a:r>
              <a:rPr lang="en-US" dirty="0"/>
              <a:t>St. Petersburg College</a:t>
            </a:r>
          </a:p>
          <a:p>
            <a:endParaRPr lang="en-US" dirty="0"/>
          </a:p>
        </p:txBody>
      </p:sp>
      <p:pic>
        <p:nvPicPr>
          <p:cNvPr id="4" name="Picture 3" descr="St. Petersburg College logo with a blue and white circular design and the establishment year 192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6133" y="4210048"/>
            <a:ext cx="1828804" cy="1828804"/>
          </a:xfrm>
          <a:prstGeom prst="rect">
            <a:avLst/>
          </a:prstGeom>
        </p:spPr>
      </p:pic>
    </p:spTree>
    <p:extLst>
      <p:ext uri="{BB962C8B-B14F-4D97-AF65-F5344CB8AC3E}">
        <p14:creationId xmlns:p14="http://schemas.microsoft.com/office/powerpoint/2010/main" val="76048760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2500" fill="hold"/>
                                        <p:tgtEl>
                                          <p:spTgt spid="4"/>
                                        </p:tgtEl>
                                        <p:attrNameLst>
                                          <p:attrName>ppt_x</p:attrName>
                                        </p:attrNameLst>
                                      </p:cBhvr>
                                      <p:tavLst>
                                        <p:tav tm="0">
                                          <p:val>
                                            <p:strVal val="#ppt_x"/>
                                          </p:val>
                                        </p:tav>
                                        <p:tav tm="100000">
                                          <p:val>
                                            <p:strVal val="#ppt_x"/>
                                          </p:val>
                                        </p:tav>
                                      </p:tavLst>
                                    </p:anim>
                                    <p:anim calcmode="lin" valueType="num">
                                      <p:cBhvr additive="base">
                                        <p:cTn id="12" dur="2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5E048-046C-1CCE-71CD-253581AB2772}"/>
              </a:ext>
            </a:extLst>
          </p:cNvPr>
          <p:cNvSpPr>
            <a:spLocks noGrp="1"/>
          </p:cNvSpPr>
          <p:nvPr>
            <p:ph type="title"/>
          </p:nvPr>
        </p:nvSpPr>
        <p:spPr>
          <a:xfrm>
            <a:off x="677334" y="283029"/>
            <a:ext cx="8596668" cy="817983"/>
          </a:xfrm>
        </p:spPr>
        <p:txBody>
          <a:bodyPr/>
          <a:lstStyle/>
          <a:p>
            <a:r>
              <a:rPr lang="en-US" dirty="0">
                <a:solidFill>
                  <a:srgbClr val="1391BC"/>
                </a:solidFill>
              </a:rPr>
              <a:t>Introduction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0AA326-4F11-2BE8-91D8-A1C6513CD226}"/>
                  </a:ext>
                </a:extLst>
              </p:cNvPr>
              <p:cNvSpPr>
                <a:spLocks noGrp="1"/>
              </p:cNvSpPr>
              <p:nvPr>
                <p:ph idx="1"/>
              </p:nvPr>
            </p:nvSpPr>
            <p:spPr>
              <a:xfrm>
                <a:off x="677333" y="1017037"/>
                <a:ext cx="4939696" cy="5486400"/>
              </a:xfrm>
            </p:spPr>
            <p:txBody>
              <a:bodyPr>
                <a:normAutofit/>
              </a:bodyPr>
              <a:lstStyle/>
              <a:p>
                <a:r>
                  <a:rPr lang="en-US" dirty="0">
                    <a:effectLst/>
                    <a:ea typeface="Calibri" panose="020F0502020204030204" pitchFamily="34" charset="0"/>
                    <a:cs typeface="Times New Roman" panose="02020603050405020304" pitchFamily="18" charset="0"/>
                  </a:rPr>
                  <a:t>Galileo postulated that all objects would fall with the same constant acceleration in the absence of air or other resistance. He showed that the distance traveled will be proportional to the square of the time; that is, </a:t>
                </a:r>
                <a14:m>
                  <m:oMath xmlns:m="http://schemas.openxmlformats.org/officeDocument/2006/math">
                    <m:r>
                      <a:rPr lang="en-US" i="1">
                        <a:effectLst/>
                        <a:latin typeface="Cambria Math" panose="02040503050406030204" pitchFamily="18" charset="0"/>
                        <a:ea typeface="Calibri" panose="020F0502020204030204" pitchFamily="34" charset="0"/>
                        <a:cs typeface="Times New Roman" panose="02020603050405020304" pitchFamily="18" charset="0"/>
                      </a:rPr>
                      <m:t>𝑑</m:t>
                    </m:r>
                    <m:r>
                      <a:rPr lang="en-US" i="1">
                        <a:effectLst/>
                        <a:latin typeface="Cambria Math" panose="02040503050406030204" pitchFamily="18" charset="0"/>
                        <a:ea typeface="Calibri" panose="020F0502020204030204" pitchFamily="34" charset="0"/>
                        <a:cs typeface="Cambria Math" panose="02040503050406030204" pitchFamily="18" charset="0"/>
                      </a:rPr>
                      <m:t>∝</m:t>
                    </m:r>
                    <m:sSup>
                      <m:sSupPr>
                        <m:ctrlPr>
                          <a:rPr lang="en-US" i="1">
                            <a:effectLst/>
                            <a:latin typeface="Cambria Math" panose="020405030504060302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𝑡</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oMath>
                </a14:m>
                <a:r>
                  <a:rPr lang="en-US" dirty="0">
                    <a:effectLst/>
                    <a:ea typeface="Calibri" panose="020F0502020204030204" pitchFamily="34" charset="0"/>
                    <a:cs typeface="Times New Roman" panose="02020603050405020304" pitchFamily="18" charset="0"/>
                  </a:rPr>
                  <a:t>. </a:t>
                </a:r>
              </a:p>
              <a:p>
                <a:r>
                  <a:rPr lang="en-US" dirty="0"/>
                  <a:t>An object is considered to be in free fall when the only force acting on it is the Earth’s gravitational force. No other forces can be acting; air resistance must be either absent or so small as to be ignored. When the object in free fall is near the surface of the earth, the gravitational force on it is nearly constant. As a result, an object in free fall accelerates downward at a constant rate. This acceleration is usually represented with the symbol </a:t>
                </a:r>
                <a14:m>
                  <m:oMath xmlns:m="http://schemas.openxmlformats.org/officeDocument/2006/math">
                    <m:r>
                      <a:rPr lang="en-US" i="1" dirty="0" smtClean="0">
                        <a:latin typeface="Cambria Math" panose="02040503050406030204" pitchFamily="18" charset="0"/>
                      </a:rPr>
                      <m:t>𝑔</m:t>
                    </m:r>
                  </m:oMath>
                </a14:m>
                <a:r>
                  <a:rPr lang="en-US" dirty="0"/>
                  <a:t>.</a:t>
                </a:r>
              </a:p>
              <a:p>
                <a:pPr marL="0" indent="0">
                  <a:buNone/>
                </a:pPr>
                <a14:m>
                  <m:oMathPara xmlns:m="http://schemas.openxmlformats.org/officeDocument/2006/math">
                    <m:oMathParaPr>
                      <m:jc m:val="centerGroup"/>
                    </m:oMathParaPr>
                    <m:oMath xmlns:m="http://schemas.openxmlformats.org/officeDocument/2006/math">
                      <m:acc>
                        <m:accPr>
                          <m:chr m:val="̅"/>
                          <m:ctrlPr>
                            <a:rPr lang="en-US" i="1" dirty="0" smtClean="0">
                              <a:solidFill>
                                <a:schemeClr val="tx1"/>
                              </a:solidFill>
                              <a:latin typeface="Cambria Math" panose="02040503050406030204" pitchFamily="18" charset="0"/>
                            </a:rPr>
                          </m:ctrlPr>
                        </m:accPr>
                        <m:e>
                          <m:r>
                            <a:rPr lang="en-US" b="0" i="1" dirty="0" smtClean="0">
                              <a:solidFill>
                                <a:schemeClr val="tx1"/>
                              </a:solidFill>
                              <a:latin typeface="Cambria Math" panose="02040503050406030204" pitchFamily="18" charset="0"/>
                            </a:rPr>
                            <m:t>𝑎</m:t>
                          </m:r>
                        </m:e>
                      </m:acc>
                      <m:r>
                        <a:rPr lang="en-US" i="1" dirty="0" smtClean="0">
                          <a:solidFill>
                            <a:schemeClr val="tx1"/>
                          </a:solidFill>
                          <a:latin typeface="Cambria Math" panose="02040503050406030204" pitchFamily="18" charset="0"/>
                        </a:rPr>
                        <m:t>= </m:t>
                      </m:r>
                      <m:sSub>
                        <m:sSubPr>
                          <m:ctrlPr>
                            <a:rPr lang="en-US" i="1" dirty="0" smtClean="0">
                              <a:solidFill>
                                <a:schemeClr val="tx1"/>
                              </a:solidFill>
                              <a:latin typeface="Cambria Math" panose="02040503050406030204" pitchFamily="18" charset="0"/>
                            </a:rPr>
                          </m:ctrlPr>
                        </m:sSubPr>
                        <m:e>
                          <m:r>
                            <a:rPr lang="en-US" b="0" i="1" dirty="0" smtClean="0">
                              <a:solidFill>
                                <a:schemeClr val="tx1"/>
                              </a:solidFill>
                              <a:latin typeface="Cambria Math" panose="02040503050406030204" pitchFamily="18" charset="0"/>
                            </a:rPr>
                            <m:t>𝑎</m:t>
                          </m:r>
                        </m:e>
                        <m:sub>
                          <m:r>
                            <a:rPr lang="en-US" b="0" i="1" dirty="0" smtClean="0">
                              <a:solidFill>
                                <a:schemeClr val="tx1"/>
                              </a:solidFill>
                              <a:latin typeface="Cambria Math" panose="02040503050406030204" pitchFamily="18" charset="0"/>
                            </a:rPr>
                            <m:t>𝑦</m:t>
                          </m:r>
                        </m:sub>
                      </m:sSub>
                      <m:r>
                        <a:rPr lang="en-US" i="1" dirty="0" smtClean="0">
                          <a:solidFill>
                            <a:schemeClr val="tx1"/>
                          </a:solidFill>
                          <a:latin typeface="Cambria Math" panose="02040503050406030204" pitchFamily="18" charset="0"/>
                        </a:rPr>
                        <m:t>=</m:t>
                      </m:r>
                      <m:r>
                        <a:rPr lang="en-US" b="0" i="1" dirty="0" smtClean="0">
                          <a:solidFill>
                            <a:schemeClr val="tx1"/>
                          </a:solidFill>
                          <a:latin typeface="Cambria Math" panose="02040503050406030204" pitchFamily="18" charset="0"/>
                        </a:rPr>
                        <m:t>𝑔</m:t>
                      </m:r>
                      <m:r>
                        <a:rPr lang="en-US" b="0" i="1" dirty="0" smtClean="0">
                          <a:solidFill>
                            <a:schemeClr val="tx1"/>
                          </a:solidFill>
                          <a:latin typeface="Cambria Math" panose="02040503050406030204" pitchFamily="18" charset="0"/>
                        </a:rPr>
                        <m:t>=9.8 </m:t>
                      </m:r>
                      <m:r>
                        <a:rPr lang="en-US" i="1" dirty="0" smtClean="0">
                          <a:solidFill>
                            <a:schemeClr val="tx1"/>
                          </a:solidFill>
                          <a:latin typeface="Cambria Math" panose="02040503050406030204" pitchFamily="18" charset="0"/>
                        </a:rPr>
                        <m:t>𝑚</m:t>
                      </m:r>
                      <m:r>
                        <a:rPr lang="en-US" i="1" dirty="0" smtClean="0">
                          <a:solidFill>
                            <a:schemeClr val="tx1"/>
                          </a:solidFill>
                          <a:latin typeface="Cambria Math" panose="02040503050406030204" pitchFamily="18" charset="0"/>
                        </a:rPr>
                        <m:t>/</m:t>
                      </m:r>
                      <m:sSup>
                        <m:sSupPr>
                          <m:ctrlPr>
                            <a:rPr lang="en-US" i="1" dirty="0" smtClean="0">
                              <a:solidFill>
                                <a:schemeClr val="tx1"/>
                              </a:solidFill>
                              <a:latin typeface="Cambria Math" panose="02040503050406030204" pitchFamily="18" charset="0"/>
                            </a:rPr>
                          </m:ctrlPr>
                        </m:sSupPr>
                        <m:e>
                          <m:r>
                            <a:rPr lang="en-US" b="0" i="1" dirty="0" smtClean="0">
                              <a:solidFill>
                                <a:schemeClr val="tx1"/>
                              </a:solidFill>
                              <a:latin typeface="Cambria Math" panose="02040503050406030204" pitchFamily="18" charset="0"/>
                            </a:rPr>
                            <m:t>𝑠</m:t>
                          </m:r>
                        </m:e>
                        <m:sup>
                          <m:r>
                            <a:rPr lang="en-US" b="0" i="1" dirty="0" smtClean="0">
                              <a:solidFill>
                                <a:schemeClr val="tx1"/>
                              </a:solidFill>
                              <a:latin typeface="Cambria Math" panose="02040503050406030204" pitchFamily="18" charset="0"/>
                            </a:rPr>
                            <m:t>2</m:t>
                          </m:r>
                        </m:sup>
                      </m:sSup>
                    </m:oMath>
                  </m:oMathPara>
                </a14:m>
                <a:endParaRPr lang="en-US" dirty="0"/>
              </a:p>
            </p:txBody>
          </p:sp>
        </mc:Choice>
        <mc:Fallback xmlns="">
          <p:sp>
            <p:nvSpPr>
              <p:cNvPr id="3" name="Content Placeholder 2">
                <a:extLst>
                  <a:ext uri="{FF2B5EF4-FFF2-40B4-BE49-F238E27FC236}">
                    <a16:creationId xmlns:a16="http://schemas.microsoft.com/office/drawing/2014/main" id="{140AA326-4F11-2BE8-91D8-A1C6513CD226}"/>
                  </a:ext>
                </a:extLst>
              </p:cNvPr>
              <p:cNvSpPr>
                <a:spLocks noAdjustHandles="1" noChangeArrowheads="1" noChangeAspect="1" noChangeShapeType="1" noEditPoints="1" noGrp="1" noMove="1" noResize="1" noRot="1" noTextEdit="1"/>
              </p:cNvSpPr>
              <p:nvPr>
                <p:ph idx="1"/>
              </p:nvPr>
            </p:nvSpPr>
            <p:spPr>
              <a:xfrm>
                <a:off x="677333" y="1017037"/>
                <a:ext cx="4939696" cy="5486400"/>
              </a:xfrm>
              <a:blipFill>
                <a:blip r:embed="rId2"/>
                <a:stretch>
                  <a:fillRect b="-333" l="-247" r="-2346" t="-778"/>
                </a:stretch>
              </a:blipFill>
            </p:spPr>
            <p:txBody>
              <a:bodyPr/>
              <a:lstStyle/>
              <a:p>
                <a:r>
                  <a:rPr lang="en-US">
                    <a:noFill/>
                  </a:rPr>
                  <a:t> </a:t>
                </a:r>
              </a:p>
            </p:txBody>
          </p:sp>
        </mc:Fallback>
      </mc:AlternateContent>
      <p:pic>
        <p:nvPicPr>
          <p:cNvPr id="4" name="Picture 3" descr="A hand dropping apple, showing freeze frames various instances against a black background.">
            <a:extLst>
              <a:ext uri="{FF2B5EF4-FFF2-40B4-BE49-F238E27FC236}">
                <a16:creationId xmlns:a16="http://schemas.microsoft.com/office/drawing/2014/main" id="{F0BAA441-899A-BBF7-B54E-6A800E530C2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41131"/>
            <a:ext cx="4288971" cy="6072800"/>
          </a:xfrm>
          <a:prstGeom prst="rect">
            <a:avLst/>
          </a:prstGeom>
          <a:noFill/>
        </p:spPr>
      </p:pic>
    </p:spTree>
    <p:extLst>
      <p:ext uri="{BB962C8B-B14F-4D97-AF65-F5344CB8AC3E}">
        <p14:creationId xmlns:p14="http://schemas.microsoft.com/office/powerpoint/2010/main" val="3905157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1D16-DDB7-31AB-FC53-7F3117AB1DF4}"/>
              </a:ext>
            </a:extLst>
          </p:cNvPr>
          <p:cNvSpPr>
            <a:spLocks noGrp="1"/>
          </p:cNvSpPr>
          <p:nvPr>
            <p:ph type="title"/>
          </p:nvPr>
        </p:nvSpPr>
        <p:spPr>
          <a:xfrm>
            <a:off x="677334" y="167813"/>
            <a:ext cx="8596668" cy="821232"/>
          </a:xfrm>
        </p:spPr>
        <p:txBody>
          <a:bodyPr/>
          <a:lstStyle/>
          <a:p>
            <a:r>
              <a:rPr lang="en-US" dirty="0">
                <a:solidFill>
                  <a:srgbClr val="1391BC"/>
                </a:solidFill>
              </a:rPr>
              <a:t>Introduction, 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180462-F38F-B7DC-6704-E4E8A046ECC8}"/>
                  </a:ext>
                </a:extLst>
              </p:cNvPr>
              <p:cNvSpPr>
                <a:spLocks noGrp="1"/>
              </p:cNvSpPr>
              <p:nvPr>
                <p:ph idx="1"/>
              </p:nvPr>
            </p:nvSpPr>
            <p:spPr>
              <a:xfrm>
                <a:off x="509383" y="919445"/>
                <a:ext cx="8596668" cy="5406710"/>
              </a:xfrm>
            </p:spPr>
            <p:txBody>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 average velocity, defined as the displacement divided by the elapsed time, can be written</a:t>
                </a:r>
              </a:p>
              <a:p>
                <a:pPr marL="0" marR="0" indent="0" algn="ctr">
                  <a:lnSpc>
                    <a:spcPct val="107000"/>
                  </a:lnSpc>
                  <a:spcBef>
                    <a:spcPts val="0"/>
                  </a:spcBef>
                  <a:spcAft>
                    <a:spcPts val="800"/>
                  </a:spcAft>
                  <a:buNone/>
                </a:pPr>
                <a14:m>
                  <m:oMathPara xmlns:m="http://schemas.openxmlformats.org/officeDocument/2006/math">
                    <m:oMathParaPr>
                      <m:jc m:val="centerGroup"/>
                    </m:oMathParaPr>
                    <m:oMath xmlns:m="http://schemas.openxmlformats.org/officeDocument/2006/math">
                      <m:acc>
                        <m:accPr>
                          <m:chr m:val="̅"/>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𝑣</m:t>
                          </m:r>
                        </m:e>
                      </m:acc>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𝑥</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1</m:t>
                              </m:r>
                            </m:sub>
                          </m:sSub>
                        </m:num>
                        <m:den>
                          <m:sSub>
                            <m:sSub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𝑡</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𝑡</m:t>
                              </m:r>
                            </m:e>
                            <m:sub>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sz="1800" kern="100">
                              <a:effectLst/>
                              <a:latin typeface="Cambria Math" panose="02040503050406030204" pitchFamily="18" charset="0"/>
                              <a:ea typeface="Calibri" panose="020F0502020204030204" pitchFamily="34" charset="0"/>
                              <a:cs typeface="Times New Roman" panose="02020603050405020304" pitchFamily="18" charset="0"/>
                            </a:rPr>
                            <m:t>. </m:t>
                          </m:r>
                        </m:den>
                      </m:f>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𝛥</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𝑥</m:t>
                          </m:r>
                        </m:num>
                        <m:den>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𝛥</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𝑡</m:t>
                          </m:r>
                        </m:den>
                      </m:f>
                    </m:oMath>
                  </m:oMathPara>
                </a14:m>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where </a:t>
                </a:r>
                <a14:m>
                  <m:oMath xmlns:m="http://schemas.openxmlformats.org/officeDocument/2006/math">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𝑣</m:t>
                    </m:r>
                  </m:oMath>
                </a14:m>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stands for velocity and the bar (</a:t>
                </a:r>
                <a14:m>
                  <m:oMath xmlns:m="http://schemas.openxmlformats.org/officeDocument/2006/math">
                    <m:acc>
                      <m:accPr>
                        <m:chr m:val="̅"/>
                        <m:ctrlPr>
                          <a:rPr lang="en-US" sz="1800" i="1" kern="100">
                            <a:effectLst/>
                            <a:latin typeface="Cambria Math" panose="02040503050406030204" pitchFamily="18" charset="0"/>
                            <a:ea typeface="Calibri" panose="020F0502020204030204" pitchFamily="34" charset="0"/>
                            <a:cs typeface="Times New Roman" panose="02020603050405020304" pitchFamily="18" charset="0"/>
                          </a:rPr>
                        </m:ctrlPr>
                      </m:accPr>
                      <m:e/>
                    </m:acc>
                  </m:oMath>
                </a14:m>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over the </a:t>
                </a:r>
                <a14:m>
                  <m:oMath xmlns:m="http://schemas.openxmlformats.org/officeDocument/2006/math">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𝑣</m:t>
                    </m:r>
                    <m:r>
                      <a:rPr lang="en-US" sz="1800" i="1" kern="10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is a standard symbol meaning “average.”</a:t>
                </a:r>
              </a:p>
              <a:p>
                <a:pPr marL="0" marR="0">
                  <a:spcBef>
                    <a:spcPts val="0"/>
                  </a:spcBef>
                  <a:spcAft>
                    <a:spcPts val="0"/>
                  </a:spcAft>
                </a:pPr>
                <a:r>
                  <a:rPr lang="en-US" kern="100" dirty="0">
                    <a:latin typeface="Calibri" panose="020F0502020204030204" pitchFamily="34" charset="0"/>
                    <a:ea typeface="Calibri" panose="020F0502020204030204" pitchFamily="34" charset="0"/>
                    <a:cs typeface="Times New Roman" panose="02020603050405020304" pitchFamily="18" charset="0"/>
                  </a:rPr>
                  <a:t>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he average acceleration is defined as</a:t>
                </a:r>
              </a:p>
              <a:p>
                <a:pPr marL="0" marR="0" indent="0">
                  <a:spcBef>
                    <a:spcPts val="0"/>
                  </a:spcBef>
                  <a:spcAft>
                    <a:spcPts val="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14:m>
                  <m:oMath xmlns:m="http://schemas.openxmlformats.org/officeDocument/2006/math">
                    <m:bar>
                      <m:barPr>
                        <m:pos m:val="top"/>
                        <m:ctrlPr>
                          <a:rPr lang="en-US" sz="2400" i="1" kern="100">
                            <a:effectLst/>
                            <a:latin typeface="Cambria Math" panose="02040503050406030204" pitchFamily="18" charset="0"/>
                            <a:ea typeface="Calibri" panose="020F0502020204030204" pitchFamily="34" charset="0"/>
                            <a:cs typeface="Times New Roman" panose="02020603050405020304" pitchFamily="18" charset="0"/>
                          </a:rPr>
                        </m:ctrlPr>
                      </m:barPr>
                      <m:e>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𝑎</m:t>
                        </m:r>
                      </m:e>
                    </m:bar>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400" i="1" kern="100">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4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1</m:t>
                            </m:r>
                          </m:sub>
                        </m:sSub>
                      </m:num>
                      <m:den>
                        <m:sSub>
                          <m:sSubPr>
                            <m:ctrlPr>
                              <a:rPr lang="en-US" sz="24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𝑡</m:t>
                            </m:r>
                          </m:e>
                          <m:sub>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2</m:t>
                            </m:r>
                          </m:sub>
                        </m:sSub>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𝑡</m:t>
                            </m:r>
                          </m:e>
                          <m:sub>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1</m:t>
                            </m:r>
                          </m:sub>
                        </m:sSub>
                      </m:den>
                    </m:f>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4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𝛥</m:t>
                        </m:r>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𝑣</m:t>
                        </m:r>
                      </m:num>
                      <m:den>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𝛥</m:t>
                        </m:r>
                        <m:r>
                          <a:rPr lang="en-US" sz="2400" i="1" kern="100">
                            <a:effectLst/>
                            <a:latin typeface="Cambria Math" panose="02040503050406030204" pitchFamily="18" charset="0"/>
                            <a:ea typeface="Calibri" panose="020F0502020204030204" pitchFamily="34" charset="0"/>
                            <a:cs typeface="Times New Roman" panose="02020603050405020304" pitchFamily="18" charset="0"/>
                          </a:rPr>
                          <m:t>𝑡</m:t>
                        </m:r>
                      </m:den>
                    </m:f>
                  </m:oMath>
                </a14:m>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0" marR="0" indent="0" algn="ctr">
                  <a:spcBef>
                    <a:spcPts val="0"/>
                  </a:spcBef>
                  <a:spcAft>
                    <a:spcPts val="0"/>
                  </a:spcAft>
                  <a:buNone/>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Motion at Constant Acceleration</a:t>
                </a:r>
              </a:p>
              <a:p>
                <a:pPr marL="0" marR="0" indent="0" algn="ctr">
                  <a:spcBef>
                    <a:spcPts val="0"/>
                  </a:spcBef>
                  <a:spcAft>
                    <a:spcPts val="0"/>
                  </a:spcAft>
                  <a:buNone/>
                </a:pPr>
                <a14:m>
                  <m:oMathPara xmlns:m="http://schemas.openxmlformats.org/officeDocument/2006/math">
                    <m:oMathParaPr>
                      <m:jc m:val="centerGroup"/>
                    </m:oMathParaPr>
                    <m:oMath xmlns:m="http://schemas.openxmlformats.org/officeDocument/2006/math">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𝑣</m:t>
                      </m:r>
                      <m:r>
                        <a:rPr lang="en-US" sz="1800" i="1" smtClean="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effectLst/>
                              <a:latin typeface="Cambria Math" panose="020405030504060302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0</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𝑎𝑡</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AD180462-F38F-B7DC-6704-E4E8A046ECC8}"/>
                  </a:ext>
                </a:extLst>
              </p:cNvPr>
              <p:cNvSpPr>
                <a:spLocks noAdjustHandles="1" noChangeArrowheads="1" noChangeAspect="1" noChangeShapeType="1" noEditPoints="1" noGrp="1" noMove="1" noResize="1" noRot="1" noTextEdit="1"/>
              </p:cNvSpPr>
              <p:nvPr>
                <p:ph idx="1"/>
              </p:nvPr>
            </p:nvSpPr>
            <p:spPr>
              <a:xfrm>
                <a:off x="509383" y="919445"/>
                <a:ext cx="8596668" cy="5406710"/>
              </a:xfrm>
              <a:blipFill>
                <a:blip r:embed="rId2"/>
                <a:stretch>
                  <a:fillRect l="-638" t="-564"/>
                </a:stretch>
              </a:blipFill>
            </p:spPr>
            <p:txBody>
              <a:bodyPr/>
              <a:lstStyle/>
              <a:p>
                <a:r>
                  <a:rPr lang="en-US">
                    <a:noFill/>
                  </a:rPr>
                  <a:t> </a:t>
                </a:r>
              </a:p>
            </p:txBody>
          </p:sp>
        </mc:Fallback>
      </mc:AlternateContent>
    </p:spTree>
    <p:extLst>
      <p:ext uri="{BB962C8B-B14F-4D97-AF65-F5344CB8AC3E}">
        <p14:creationId xmlns:p14="http://schemas.microsoft.com/office/powerpoint/2010/main" val="2682241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92629"/>
          </a:xfrm>
        </p:spPr>
        <p:txBody>
          <a:bodyPr/>
          <a:lstStyle/>
          <a:p>
            <a:r>
              <a:rPr lang="en-US" dirty="0">
                <a:solidFill>
                  <a:srgbClr val="1391BC"/>
                </a:solidFill>
              </a:rPr>
              <a:t>Introduction, Continued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77334" y="1502230"/>
                <a:ext cx="3157548" cy="3890864"/>
              </a:xfrm>
            </p:spPr>
            <p:txBody>
              <a:bodyPr>
                <a:normAutofit/>
              </a:bodyPr>
              <a:lstStyle/>
              <a:p>
                <a:r>
                  <a:rPr lang="en-US" sz="3200" dirty="0"/>
                  <a:t>Formulas:</a:t>
                </a:r>
              </a:p>
              <a:p>
                <a:endParaRPr lang="en-US" sz="3200" dirty="0"/>
              </a:p>
              <a:p>
                <a:pPr marL="0" indent="0" algn="ctr">
                  <a:buNone/>
                </a:pPr>
                <a14:m>
                  <m:oMathPara xmlns:m="http://schemas.openxmlformats.org/officeDocument/2006/math">
                    <m:oMathParaPr>
                      <m:jc m:val="centerGroup"/>
                    </m:oMathParaPr>
                    <m:oMath xmlns:m="http://schemas.openxmlformats.org/officeDocument/2006/math">
                      <m:acc>
                        <m:accPr>
                          <m:chr m:val="̅"/>
                          <m:ctrlPr>
                            <a:rPr lang="en-US" sz="3200" i="1">
                              <a:latin typeface="Cambria Math" panose="02040503050406030204" pitchFamily="18" charset="0"/>
                            </a:rPr>
                          </m:ctrlPr>
                        </m:accPr>
                        <m:e>
                          <m:r>
                            <a:rPr lang="en-US" sz="3200" b="0" i="1" smtClean="0">
                              <a:latin typeface="Cambria Math" panose="02040503050406030204" pitchFamily="18" charset="0"/>
                            </a:rPr>
                            <m:t>𝑣</m:t>
                          </m:r>
                        </m:e>
                      </m:acc>
                      <m:r>
                        <a:rPr lang="en-US" sz="3200" i="1">
                          <a:latin typeface="Cambria Math"/>
                        </a:rPr>
                        <m:t>=</m:t>
                      </m:r>
                      <m:f>
                        <m:fPr>
                          <m:ctrlPr>
                            <a:rPr lang="en-US" sz="3200" i="1">
                              <a:latin typeface="Cambria Math" panose="02040503050406030204" pitchFamily="18" charset="0"/>
                              <a:ea typeface="Cambria Math"/>
                            </a:rPr>
                          </m:ctrlPr>
                        </m:fPr>
                        <m:num>
                          <m:r>
                            <a:rPr lang="en-US" sz="3200" i="1">
                              <a:latin typeface="Cambria Math"/>
                              <a:ea typeface="Cambria Math"/>
                            </a:rPr>
                            <m:t>∆</m:t>
                          </m:r>
                          <m:r>
                            <a:rPr lang="en-US" sz="3200" i="1">
                              <a:latin typeface="Cambria Math"/>
                              <a:ea typeface="Cambria Math"/>
                            </a:rPr>
                            <m:t>𝑥</m:t>
                          </m:r>
                        </m:num>
                        <m:den>
                          <m:r>
                            <a:rPr lang="en-US" sz="3200" i="1">
                              <a:latin typeface="Cambria Math"/>
                              <a:ea typeface="Cambria Math"/>
                            </a:rPr>
                            <m:t>∆</m:t>
                          </m:r>
                          <m:r>
                            <a:rPr lang="en-US" sz="3200" i="1">
                              <a:latin typeface="Cambria Math"/>
                              <a:ea typeface="Cambria Math"/>
                            </a:rPr>
                            <m:t>𝑡</m:t>
                          </m:r>
                        </m:den>
                      </m:f>
                    </m:oMath>
                  </m:oMathPara>
                </a14:m>
                <a:endParaRPr lang="en-US" sz="3200" dirty="0">
                  <a:solidFill>
                    <a:schemeClr val="tx1"/>
                  </a:solidFill>
                </a:endParaRPr>
              </a:p>
              <a:p>
                <a:pPr marL="0" indent="0">
                  <a:buNone/>
                </a:pPr>
                <a14:m>
                  <m:oMathPara xmlns:m="http://schemas.openxmlformats.org/officeDocument/2006/math">
                    <m:oMathParaPr>
                      <m:jc m:val="centerGroup"/>
                    </m:oMathParaPr>
                    <m:oMath xmlns:m="http://schemas.openxmlformats.org/officeDocument/2006/math">
                      <m:acc>
                        <m:accPr>
                          <m:chr m:val="̅"/>
                          <m:ctrlPr>
                            <a:rPr lang="en-US" sz="3200" i="1">
                              <a:latin typeface="Cambria Math" panose="02040503050406030204" pitchFamily="18" charset="0"/>
                            </a:rPr>
                          </m:ctrlPr>
                        </m:accPr>
                        <m:e>
                          <m:r>
                            <a:rPr lang="en-US" sz="3200" i="1">
                              <a:latin typeface="Cambria Math" panose="02040503050406030204" pitchFamily="18" charset="0"/>
                            </a:rPr>
                            <m:t>𝑎</m:t>
                          </m:r>
                        </m:e>
                      </m:acc>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𝛥</m:t>
                          </m:r>
                          <m:r>
                            <a:rPr lang="en-US" sz="3200" i="1">
                              <a:latin typeface="Cambria Math" panose="02040503050406030204" pitchFamily="18" charset="0"/>
                            </a:rPr>
                            <m:t>𝑣</m:t>
                          </m:r>
                        </m:num>
                        <m:den>
                          <m:r>
                            <a:rPr lang="en-US" sz="3200" i="1">
                              <a:latin typeface="Cambria Math" panose="02040503050406030204" pitchFamily="18" charset="0"/>
                            </a:rPr>
                            <m:t>𝛥</m:t>
                          </m:r>
                          <m:r>
                            <a:rPr lang="en-US" sz="3200" i="1">
                              <a:latin typeface="Cambria Math" panose="02040503050406030204" pitchFamily="18" charset="0"/>
                            </a:rPr>
                            <m:t>𝑡</m:t>
                          </m:r>
                        </m:den>
                      </m:f>
                    </m:oMath>
                  </m:oMathPara>
                </a14:m>
                <a:endParaRPr lang="en-US" sz="3200" dirty="0"/>
              </a:p>
            </p:txBody>
          </p:sp>
        </mc:Choice>
        <mc:Fallback xmlns="">
          <p:sp>
            <p:nvSpPr>
              <p:cNvPr id="3" name="Content Placeholder 2"/>
              <p:cNvSpPr>
                <a:spLocks noAdjustHandles="1" noChangeArrowheads="1" noChangeAspect="1" noChangeShapeType="1" noEditPoints="1" noGrp="1" noMove="1" noResize="1" noRot="1" noTextEdit="1"/>
              </p:cNvSpPr>
              <p:nvPr>
                <p:ph idx="1"/>
              </p:nvPr>
            </p:nvSpPr>
            <p:spPr>
              <a:xfrm>
                <a:off x="677334" y="1502230"/>
                <a:ext cx="3157548" cy="3890864"/>
              </a:xfrm>
              <a:blipFill>
                <a:blip r:embed="rId2"/>
                <a:stretch>
                  <a:fillRect l="-2896" t="-2034"/>
                </a:stretch>
              </a:blipFill>
            </p:spPr>
            <p:txBody>
              <a:bodyPr/>
              <a:lstStyle/>
              <a:p>
                <a:r>
                  <a:rPr lang="en-US">
                    <a:noFill/>
                  </a:rPr>
                  <a:t> </a:t>
                </a:r>
              </a:p>
            </p:txBody>
          </p:sp>
        </mc:Fallback>
      </mc:AlternateContent>
      <p:pic>
        <p:nvPicPr>
          <p:cNvPr id="4" name="Picture 4" descr="A graph showing velocity versus time with a linear slope representing acceleration, including the slope formula.">
            <a:extLst>
              <a:ext uri="{FF2B5EF4-FFF2-40B4-BE49-F238E27FC236}">
                <a16:creationId xmlns:a16="http://schemas.microsoft.com/office/drawing/2014/main" id="{6909D1B8-A0F0-483C-356C-FA05F70A0D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0642" y="1362270"/>
            <a:ext cx="5187073" cy="5198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60686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03974-AEFC-E000-CC7E-B8C1558BC003}"/>
              </a:ext>
            </a:extLst>
          </p:cNvPr>
          <p:cNvSpPr>
            <a:spLocks noGrp="1"/>
          </p:cNvSpPr>
          <p:nvPr>
            <p:ph type="title"/>
          </p:nvPr>
        </p:nvSpPr>
        <p:spPr>
          <a:xfrm>
            <a:off x="677334" y="609600"/>
            <a:ext cx="8596668" cy="650033"/>
          </a:xfrm>
        </p:spPr>
        <p:txBody>
          <a:bodyPr/>
          <a:lstStyle/>
          <a:p>
            <a:r>
              <a:rPr lang="en-US" dirty="0">
                <a:solidFill>
                  <a:srgbClr val="1391BC"/>
                </a:solidFill>
              </a:rPr>
              <a:t>Objective</a:t>
            </a:r>
          </a:p>
        </p:txBody>
      </p:sp>
      <p:sp>
        <p:nvSpPr>
          <p:cNvPr id="3" name="Content Placeholder 2">
            <a:extLst>
              <a:ext uri="{FF2B5EF4-FFF2-40B4-BE49-F238E27FC236}">
                <a16:creationId xmlns:a16="http://schemas.microsoft.com/office/drawing/2014/main" id="{DDCCFC87-470C-3186-EC50-F4307E5E7ADD}"/>
              </a:ext>
            </a:extLst>
          </p:cNvPr>
          <p:cNvSpPr>
            <a:spLocks noGrp="1"/>
          </p:cNvSpPr>
          <p:nvPr>
            <p:ph idx="1"/>
          </p:nvPr>
        </p:nvSpPr>
        <p:spPr>
          <a:xfrm>
            <a:off x="677334" y="1712719"/>
            <a:ext cx="8596668" cy="1011819"/>
          </a:xfrm>
        </p:spPr>
        <p:txBody>
          <a:bodyPr>
            <a:normAutofit/>
          </a:bodyPr>
          <a:lstStyle/>
          <a:p>
            <a:r>
              <a:rPr lang="en-US" sz="2000" dirty="0"/>
              <a:t>Measure the acceleration of a freely falling body (g) using a Picket Fence and a Photogate.</a:t>
            </a:r>
          </a:p>
        </p:txBody>
      </p:sp>
      <p:pic>
        <p:nvPicPr>
          <p:cNvPr id="15" name="Picture 14" descr="The word 'Apparatus' written in light blue on a white background.">
            <a:extLst>
              <a:ext uri="{FF2B5EF4-FFF2-40B4-BE49-F238E27FC236}">
                <a16:creationId xmlns:a16="http://schemas.microsoft.com/office/drawing/2014/main" id="{EE65B671-07DA-66F8-DFC2-F88CE50A65AF}"/>
              </a:ext>
            </a:extLst>
          </p:cNvPr>
          <p:cNvPicPr>
            <a:picLocks noChangeAspect="1"/>
          </p:cNvPicPr>
          <p:nvPr/>
        </p:nvPicPr>
        <p:blipFill>
          <a:blip r:embed="rId2"/>
          <a:stretch>
            <a:fillRect/>
          </a:stretch>
        </p:blipFill>
        <p:spPr>
          <a:xfrm>
            <a:off x="552010" y="2872730"/>
            <a:ext cx="2597121" cy="963251"/>
          </a:xfrm>
          <a:prstGeom prst="rect">
            <a:avLst/>
          </a:prstGeom>
        </p:spPr>
      </p:pic>
      <p:graphicFrame>
        <p:nvGraphicFramePr>
          <p:cNvPr id="17" name="Table 16">
            <a:extLst>
              <a:ext uri="{FF2B5EF4-FFF2-40B4-BE49-F238E27FC236}">
                <a16:creationId xmlns:a16="http://schemas.microsoft.com/office/drawing/2014/main" id="{DB39E7E7-C305-4FC8-328A-B29CA9947C7E}"/>
              </a:ext>
            </a:extLst>
          </p:cNvPr>
          <p:cNvGraphicFramePr>
            <a:graphicFrameLocks noGrp="1"/>
          </p:cNvGraphicFramePr>
          <p:nvPr>
            <p:extLst>
              <p:ext uri="{D42A27DB-BD31-4B8C-83A1-F6EECF244321}">
                <p14:modId xmlns:p14="http://schemas.microsoft.com/office/powerpoint/2010/main" val="333322282"/>
              </p:ext>
            </p:extLst>
          </p:nvPr>
        </p:nvGraphicFramePr>
        <p:xfrm>
          <a:off x="677334" y="3835981"/>
          <a:ext cx="9918439" cy="1670484"/>
        </p:xfrm>
        <a:graphic>
          <a:graphicData uri="http://schemas.openxmlformats.org/drawingml/2006/table">
            <a:tbl>
              <a:tblPr firstRow="1"/>
              <a:tblGrid>
                <a:gridCol w="5439319">
                  <a:extLst>
                    <a:ext uri="{9D8B030D-6E8A-4147-A177-3AD203B41FA5}">
                      <a16:colId xmlns:a16="http://schemas.microsoft.com/office/drawing/2014/main" val="357338589"/>
                    </a:ext>
                  </a:extLst>
                </a:gridCol>
                <a:gridCol w="4479120">
                  <a:extLst>
                    <a:ext uri="{9D8B030D-6E8A-4147-A177-3AD203B41FA5}">
                      <a16:colId xmlns:a16="http://schemas.microsoft.com/office/drawing/2014/main" val="718138773"/>
                    </a:ext>
                  </a:extLst>
                </a:gridCol>
              </a:tblGrid>
              <a:tr h="417621">
                <a:tc>
                  <a:txBody>
                    <a:bodyPr/>
                    <a:lstStyle/>
                    <a:p>
                      <a:pPr marL="0" marR="0" hangingPunct="0">
                        <a:lnSpc>
                          <a:spcPts val="1200"/>
                        </a:lnSpc>
                        <a:spcBef>
                          <a:spcPts val="0"/>
                        </a:spcBef>
                        <a:spcAft>
                          <a:spcPts val="0"/>
                        </a:spcAft>
                        <a:tabLst>
                          <a:tab pos="228600" algn="l"/>
                        </a:tabLst>
                      </a:pPr>
                      <a:endParaRPr lang="en-US" sz="2000">
                        <a:effectLst/>
                        <a:latin typeface="+mn-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hangingPunct="0">
                        <a:lnSpc>
                          <a:spcPts val="1200"/>
                        </a:lnSpc>
                        <a:spcBef>
                          <a:spcPts val="0"/>
                        </a:spcBef>
                        <a:spcAft>
                          <a:spcPts val="0"/>
                        </a:spcAft>
                        <a:tabLst>
                          <a:tab pos="228600" algn="l"/>
                        </a:tabLst>
                      </a:pPr>
                      <a:endParaRPr lang="en-US" sz="2000" dirty="0">
                        <a:effectLst/>
                        <a:latin typeface="+mn-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9755414"/>
                  </a:ext>
                </a:extLst>
              </a:tr>
              <a:tr h="417621">
                <a:tc>
                  <a:txBody>
                    <a:bodyPr/>
                    <a:lstStyle/>
                    <a:p>
                      <a:pPr marL="0" marR="0" hangingPunct="0">
                        <a:lnSpc>
                          <a:spcPts val="1200"/>
                        </a:lnSpc>
                        <a:spcBef>
                          <a:spcPts val="0"/>
                        </a:spcBef>
                        <a:spcAft>
                          <a:spcPts val="0"/>
                        </a:spcAft>
                        <a:tabLst>
                          <a:tab pos="228600" algn="l"/>
                        </a:tabLst>
                      </a:pPr>
                      <a:r>
                        <a:rPr lang="en-US" sz="2000">
                          <a:effectLst/>
                          <a:latin typeface="+mn-lt"/>
                          <a:ea typeface="Times New Roman" panose="02020603050405020304" pitchFamily="18" charset="0"/>
                        </a:rPr>
                        <a:t>Computer with Logger </a:t>
                      </a:r>
                      <a:r>
                        <a:rPr lang="en-US" sz="2000" i="1">
                          <a:effectLst/>
                          <a:latin typeface="+mn-lt"/>
                          <a:ea typeface="Times New Roman" panose="02020603050405020304" pitchFamily="18" charset="0"/>
                        </a:rPr>
                        <a:t>Pro</a:t>
                      </a:r>
                      <a:endParaRPr lang="en-US" sz="2000">
                        <a:effectLst/>
                        <a:latin typeface="+mn-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hangingPunct="0">
                        <a:lnSpc>
                          <a:spcPts val="1200"/>
                        </a:lnSpc>
                        <a:spcBef>
                          <a:spcPts val="0"/>
                        </a:spcBef>
                        <a:spcAft>
                          <a:spcPts val="0"/>
                        </a:spcAft>
                        <a:tabLst>
                          <a:tab pos="228600" algn="l"/>
                        </a:tabLst>
                      </a:pPr>
                      <a:r>
                        <a:rPr lang="en-US" sz="2000">
                          <a:effectLst/>
                          <a:latin typeface="+mn-lt"/>
                          <a:ea typeface="Times New Roman" panose="02020603050405020304" pitchFamily="18" charset="0"/>
                        </a:rPr>
                        <a:t>Vernier Photogate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6616510"/>
                  </a:ext>
                </a:extLst>
              </a:tr>
              <a:tr h="417621">
                <a:tc>
                  <a:txBody>
                    <a:bodyPr/>
                    <a:lstStyle/>
                    <a:p>
                      <a:pPr marL="0" marR="0" hangingPunct="0">
                        <a:lnSpc>
                          <a:spcPts val="1200"/>
                        </a:lnSpc>
                        <a:spcBef>
                          <a:spcPts val="0"/>
                        </a:spcBef>
                        <a:spcAft>
                          <a:spcPts val="0"/>
                        </a:spcAft>
                        <a:tabLst>
                          <a:tab pos="228600" algn="l"/>
                        </a:tabLst>
                      </a:pPr>
                      <a:r>
                        <a:rPr lang="en-US" sz="2000" dirty="0" err="1">
                          <a:effectLst/>
                          <a:latin typeface="+mn-lt"/>
                          <a:ea typeface="Times New Roman" panose="02020603050405020304" pitchFamily="18" charset="0"/>
                        </a:rPr>
                        <a:t>LabPro</a:t>
                      </a:r>
                      <a:r>
                        <a:rPr lang="en-US" sz="2000" dirty="0">
                          <a:effectLst/>
                          <a:latin typeface="+mn-lt"/>
                          <a:ea typeface="Times New Roman" panose="02020603050405020304" pitchFamily="18" charset="0"/>
                        </a:rPr>
                        <a:t> with accessories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hangingPunct="0">
                        <a:lnSpc>
                          <a:spcPts val="1200"/>
                        </a:lnSpc>
                        <a:spcBef>
                          <a:spcPts val="0"/>
                        </a:spcBef>
                        <a:spcAft>
                          <a:spcPts val="0"/>
                        </a:spcAft>
                        <a:tabLst>
                          <a:tab pos="228600" algn="l"/>
                        </a:tabLst>
                      </a:pPr>
                      <a:r>
                        <a:rPr lang="en-US" sz="2000" dirty="0">
                          <a:effectLst/>
                          <a:latin typeface="+mn-lt"/>
                          <a:ea typeface="Times New Roman" panose="02020603050405020304" pitchFamily="18" charset="0"/>
                        </a:rPr>
                        <a:t>Picket Fence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6390680"/>
                  </a:ext>
                </a:extLst>
              </a:tr>
              <a:tr h="417621">
                <a:tc>
                  <a:txBody>
                    <a:bodyPr/>
                    <a:lstStyle/>
                    <a:p>
                      <a:pPr marL="0" marR="0" hangingPunct="0">
                        <a:lnSpc>
                          <a:spcPts val="1200"/>
                        </a:lnSpc>
                        <a:spcBef>
                          <a:spcPts val="0"/>
                        </a:spcBef>
                        <a:spcAft>
                          <a:spcPts val="0"/>
                        </a:spcAft>
                        <a:tabLst>
                          <a:tab pos="228600" algn="l"/>
                        </a:tabLst>
                      </a:pPr>
                      <a:r>
                        <a:rPr lang="en-US" sz="2000" dirty="0">
                          <a:effectLst/>
                          <a:latin typeface="+mn-lt"/>
                          <a:ea typeface="Times New Roman" panose="02020603050405020304" pitchFamily="18" charset="0"/>
                        </a:rPr>
                        <a:t>clamp or ring stand to secure Photogate</a:t>
                      </a:r>
                    </a:p>
                    <a:p>
                      <a:pPr marL="0" marR="0" hangingPunct="0">
                        <a:lnSpc>
                          <a:spcPts val="1200"/>
                        </a:lnSpc>
                        <a:spcBef>
                          <a:spcPts val="0"/>
                        </a:spcBef>
                        <a:spcAft>
                          <a:spcPts val="0"/>
                        </a:spcAft>
                        <a:tabLst>
                          <a:tab pos="228600" algn="l"/>
                        </a:tabLst>
                      </a:pPr>
                      <a:endParaRPr lang="en-US" sz="2000" dirty="0">
                        <a:effectLst/>
                        <a:latin typeface="+mn-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hangingPunct="0">
                        <a:lnSpc>
                          <a:spcPts val="1200"/>
                        </a:lnSpc>
                        <a:spcBef>
                          <a:spcPts val="0"/>
                        </a:spcBef>
                        <a:spcAft>
                          <a:spcPts val="0"/>
                        </a:spcAft>
                        <a:tabLst>
                          <a:tab pos="228600" algn="l"/>
                        </a:tabLst>
                      </a:pPr>
                      <a:r>
                        <a:rPr lang="en-US" sz="2000" dirty="0">
                          <a:effectLst/>
                          <a:latin typeface="+mn-lt"/>
                          <a:ea typeface="Times New Roman" panose="02020603050405020304" pitchFamily="18" charset="0"/>
                        </a:rPr>
                        <a:t>Carpet</a:t>
                      </a:r>
                    </a:p>
                    <a:p>
                      <a:pPr marL="0" marR="0" hangingPunct="0">
                        <a:lnSpc>
                          <a:spcPts val="1200"/>
                        </a:lnSpc>
                        <a:spcBef>
                          <a:spcPts val="0"/>
                        </a:spcBef>
                        <a:spcAft>
                          <a:spcPts val="0"/>
                        </a:spcAft>
                        <a:tabLst>
                          <a:tab pos="228600" algn="l"/>
                        </a:tabLst>
                      </a:pPr>
                      <a:endParaRPr lang="en-US" sz="2000" dirty="0">
                        <a:effectLst/>
                        <a:latin typeface="+mn-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8449765"/>
                  </a:ext>
                </a:extLst>
              </a:tr>
            </a:tbl>
          </a:graphicData>
        </a:graphic>
      </p:graphicFrame>
    </p:spTree>
    <p:extLst>
      <p:ext uri="{BB962C8B-B14F-4D97-AF65-F5344CB8AC3E}">
        <p14:creationId xmlns:p14="http://schemas.microsoft.com/office/powerpoint/2010/main" val="6272539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24678"/>
          </a:xfrm>
        </p:spPr>
        <p:txBody>
          <a:bodyPr/>
          <a:lstStyle/>
          <a:p>
            <a:r>
              <a:rPr lang="en-US" dirty="0">
                <a:solidFill>
                  <a:srgbClr val="1391BC"/>
                </a:solidFill>
              </a:rPr>
              <a:t>Picket Fence</a:t>
            </a:r>
          </a:p>
        </p:txBody>
      </p:sp>
      <p:sp>
        <p:nvSpPr>
          <p:cNvPr id="3" name="Content Placeholder 2"/>
          <p:cNvSpPr>
            <a:spLocks noGrp="1"/>
          </p:cNvSpPr>
          <p:nvPr>
            <p:ph idx="1"/>
          </p:nvPr>
        </p:nvSpPr>
        <p:spPr>
          <a:xfrm>
            <a:off x="677334" y="1334278"/>
            <a:ext cx="5098315" cy="4506686"/>
          </a:xfrm>
        </p:spPr>
        <p:txBody>
          <a:bodyPr>
            <a:noAutofit/>
          </a:bodyPr>
          <a:lstStyle/>
          <a:p>
            <a:r>
              <a:rPr lang="en-US" sz="1700" dirty="0"/>
              <a:t>In this experiment, you will use a very precise timer connected to the computer and a Photogate. The Photogate has a beam of infrared light that travels from one side to the other. It can detect whenever this beam is blocked. You will drop a piece of clear plastic with evenly spaced black bars on it, called a Picket Fence. As the Picket Fence passes through the Photogate, the computer will measure the time from the leading edge of one bar blocking the beam until the leading edge of the next bar blocks the beam. This timing continues as all eight bars pass through the Photogate. From these measured times, the program will calculate the velocities and accelerations for this motion and graphs will be plotted. </a:t>
            </a:r>
          </a:p>
        </p:txBody>
      </p:sp>
      <p:pic>
        <p:nvPicPr>
          <p:cNvPr id="4" name="Picture 3" descr="A scientific setup with a picket fence, light source, and a detector on a stand over a table.">
            <a:extLst>
              <a:ext uri="{FF2B5EF4-FFF2-40B4-BE49-F238E27FC236}">
                <a16:creationId xmlns:a16="http://schemas.microsoft.com/office/drawing/2014/main" id="{3C97EF40-5BFE-DDBD-16CA-1E1F51189A62}"/>
              </a:ext>
            </a:extLst>
          </p:cNvPr>
          <p:cNvPicPr>
            <a:picLocks noChangeAspect="1"/>
          </p:cNvPicPr>
          <p:nvPr/>
        </p:nvPicPr>
        <p:blipFill>
          <a:blip r:embed="rId2"/>
          <a:stretch>
            <a:fillRect/>
          </a:stretch>
        </p:blipFill>
        <p:spPr>
          <a:xfrm>
            <a:off x="6344816" y="858947"/>
            <a:ext cx="4092452" cy="5245073"/>
          </a:xfrm>
          <a:prstGeom prst="rect">
            <a:avLst/>
          </a:prstGeom>
        </p:spPr>
      </p:pic>
    </p:spTree>
    <p:extLst>
      <p:ext uri="{BB962C8B-B14F-4D97-AF65-F5344CB8AC3E}">
        <p14:creationId xmlns:p14="http://schemas.microsoft.com/office/powerpoint/2010/main" val="322283944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6B3FE-C9E0-B91F-8C63-C3927327FF16}"/>
              </a:ext>
            </a:extLst>
          </p:cNvPr>
          <p:cNvSpPr>
            <a:spLocks noGrp="1"/>
          </p:cNvSpPr>
          <p:nvPr>
            <p:ph type="title"/>
          </p:nvPr>
        </p:nvSpPr>
        <p:spPr>
          <a:xfrm>
            <a:off x="677334" y="609600"/>
            <a:ext cx="8596668" cy="845976"/>
          </a:xfrm>
        </p:spPr>
        <p:txBody>
          <a:bodyPr/>
          <a:lstStyle/>
          <a:p>
            <a:r>
              <a:rPr lang="en-US" dirty="0">
                <a:solidFill>
                  <a:srgbClr val="1391BC"/>
                </a:solidFill>
              </a:rPr>
              <a:t>Preliminary questions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3271B5-C11F-456B-4A14-BD2F39C7625B}"/>
                  </a:ext>
                </a:extLst>
              </p:cNvPr>
              <p:cNvSpPr>
                <a:spLocks noGrp="1"/>
              </p:cNvSpPr>
              <p:nvPr>
                <p:ph idx="1"/>
              </p:nvPr>
            </p:nvSpPr>
            <p:spPr>
              <a:xfrm>
                <a:off x="593358" y="1488613"/>
                <a:ext cx="8596668" cy="3880773"/>
              </a:xfrm>
            </p:spPr>
            <p:txBody>
              <a:bodyPr/>
              <a:lstStyle/>
              <a:p>
                <a:pPr marL="0" indent="0">
                  <a:buNone/>
                </a:pPr>
                <a:r>
                  <a:rPr lang="en-US" sz="1800" dirty="0">
                    <a:solidFill>
                      <a:srgbClr val="000000"/>
                    </a:solidFill>
                    <a:effectLst/>
                    <a:ea typeface="Times New Roman" panose="02020603050405020304" pitchFamily="18" charset="0"/>
                  </a:rPr>
                  <a:t>1. Inspect your Picket Fence. You will be dropping it through a Photogate to measure</a:t>
                </a:r>
                <a14:m>
                  <m:oMath xmlns:m="http://schemas.openxmlformats.org/officeDocument/2006/math">
                    <m:r>
                      <a:rPr lang="en-US" sz="1800" i="1" dirty="0" smtClean="0">
                        <a:solidFill>
                          <a:srgbClr val="000000"/>
                        </a:solidFill>
                        <a:effectLst/>
                        <a:latin typeface="Cambria Math" panose="02040503050406030204" pitchFamily="18" charset="0"/>
                        <a:ea typeface="Times New Roman" panose="02020603050405020304" pitchFamily="18" charset="0"/>
                      </a:rPr>
                      <m:t> </m:t>
                    </m:r>
                    <m:r>
                      <a:rPr lang="en-US" sz="1800" i="1" dirty="0" smtClean="0">
                        <a:solidFill>
                          <a:srgbClr val="000000"/>
                        </a:solidFill>
                        <a:effectLst/>
                        <a:latin typeface="Cambria Math" panose="02040503050406030204" pitchFamily="18" charset="0"/>
                        <a:ea typeface="Times New Roman" panose="02020603050405020304" pitchFamily="18" charset="0"/>
                      </a:rPr>
                      <m:t>𝑔</m:t>
                    </m:r>
                  </m:oMath>
                </a14:m>
                <a:r>
                  <a:rPr lang="en-US" sz="1800" dirty="0">
                    <a:solidFill>
                      <a:srgbClr val="000000"/>
                    </a:solidFill>
                    <a:effectLst/>
                    <a:ea typeface="Times New Roman" panose="02020603050405020304" pitchFamily="18" charset="0"/>
                  </a:rPr>
                  <a:t>. The distance, measured from one edge of a black band to the same edge of the next band, is </a:t>
                </a:r>
                <a14:m>
                  <m:oMath xmlns:m="http://schemas.openxmlformats.org/officeDocument/2006/math">
                    <m:r>
                      <a:rPr lang="en-US" sz="1800" i="1" dirty="0" smtClean="0">
                        <a:solidFill>
                          <a:srgbClr val="000000"/>
                        </a:solidFill>
                        <a:effectLst/>
                        <a:latin typeface="Cambria Math" panose="02040503050406030204" pitchFamily="18" charset="0"/>
                        <a:ea typeface="Times New Roman" panose="02020603050405020304" pitchFamily="18" charset="0"/>
                      </a:rPr>
                      <m:t>5 </m:t>
                    </m:r>
                    <m:r>
                      <a:rPr lang="en-US" sz="1800" i="1" dirty="0" smtClean="0">
                        <a:solidFill>
                          <a:srgbClr val="000000"/>
                        </a:solidFill>
                        <a:effectLst/>
                        <a:latin typeface="Cambria Math" panose="02040503050406030204" pitchFamily="18" charset="0"/>
                        <a:ea typeface="Times New Roman" panose="02020603050405020304" pitchFamily="18" charset="0"/>
                      </a:rPr>
                      <m:t>𝑐𝑚</m:t>
                    </m:r>
                  </m:oMath>
                </a14:m>
                <a:r>
                  <a:rPr lang="en-US" sz="1800" dirty="0">
                    <a:solidFill>
                      <a:srgbClr val="000000"/>
                    </a:solidFill>
                    <a:effectLst/>
                    <a:ea typeface="Times New Roman" panose="02020603050405020304" pitchFamily="18" charset="0"/>
                  </a:rPr>
                  <a:t>. What additional information will you need to determine the average speed of the Picket Fence as it moves through the Photogate? Explain.</a:t>
                </a:r>
              </a:p>
              <a:p>
                <a:endParaRPr lang="en-US" dirty="0">
                  <a:solidFill>
                    <a:srgbClr val="000000"/>
                  </a:solidFill>
                  <a:ea typeface="Times New Roman" panose="02020603050405020304" pitchFamily="18" charset="0"/>
                </a:endParaRPr>
              </a:p>
              <a:p>
                <a:endParaRPr lang="en-US" sz="1800" dirty="0">
                  <a:solidFill>
                    <a:srgbClr val="000000"/>
                  </a:solidFill>
                  <a:effectLst/>
                  <a:ea typeface="Times New Roman" panose="02020603050405020304" pitchFamily="18" charset="0"/>
                </a:endParaRPr>
              </a:p>
              <a:p>
                <a:pPr marL="0" indent="0">
                  <a:buNone/>
                </a:pPr>
                <a:r>
                  <a:rPr lang="en-US" sz="1800" dirty="0">
                    <a:effectLst/>
                    <a:ea typeface="Times New Roman" panose="02020603050405020304" pitchFamily="18" charset="0"/>
                  </a:rPr>
                  <a:t>2. If an object is moving with constant acceleration, what is the shape of its velocity </a:t>
                </a:r>
                <a:r>
                  <a:rPr lang="en-US" sz="1800" i="1" dirty="0">
                    <a:effectLst/>
                    <a:ea typeface="Times New Roman" panose="02020603050405020304" pitchFamily="18" charset="0"/>
                  </a:rPr>
                  <a:t>vs.</a:t>
                </a:r>
                <a:r>
                  <a:rPr lang="en-US" sz="1800" dirty="0">
                    <a:effectLst/>
                    <a:ea typeface="Times New Roman" panose="02020603050405020304" pitchFamily="18" charset="0"/>
                  </a:rPr>
                  <a:t> time graph? Sketch it.</a:t>
                </a:r>
              </a:p>
              <a:p>
                <a:endParaRPr lang="en-US" sz="1800" dirty="0">
                  <a:solidFill>
                    <a:srgbClr val="000000"/>
                  </a:solidFill>
                  <a:effectLst/>
                  <a:latin typeface="Times New Roman" panose="02020603050405020304" pitchFamily="18" charset="0"/>
                  <a:ea typeface="Times New Roman" panose="02020603050405020304" pitchFamily="18" charset="0"/>
                </a:endParaRPr>
              </a:p>
              <a:p>
                <a:endParaRPr lang="en-US" dirty="0"/>
              </a:p>
            </p:txBody>
          </p:sp>
        </mc:Choice>
        <mc:Fallback xmlns="">
          <p:sp>
            <p:nvSpPr>
              <p:cNvPr id="3" name="Content Placeholder 2">
                <a:extLst>
                  <a:ext uri="{FF2B5EF4-FFF2-40B4-BE49-F238E27FC236}">
                    <a16:creationId xmlns:a16="http://schemas.microsoft.com/office/drawing/2014/main" id="{B33271B5-C11F-456B-4A14-BD2F39C7625B}"/>
                  </a:ext>
                </a:extLst>
              </p:cNvPr>
              <p:cNvSpPr>
                <a:spLocks noAdjustHandles="1" noChangeArrowheads="1" noChangeAspect="1" noChangeShapeType="1" noEditPoints="1" noGrp="1" noMove="1" noResize="1" noRot="1" noTextEdit="1"/>
              </p:cNvSpPr>
              <p:nvPr>
                <p:ph idx="1"/>
              </p:nvPr>
            </p:nvSpPr>
            <p:spPr>
              <a:xfrm>
                <a:off x="593358" y="1488613"/>
                <a:ext cx="8596668" cy="3880773"/>
              </a:xfrm>
              <a:blipFill>
                <a:blip r:embed="rId2"/>
                <a:stretch>
                  <a:fillRect l="-567" t="-942"/>
                </a:stretch>
              </a:blipFill>
            </p:spPr>
            <p:txBody>
              <a:bodyPr/>
              <a:lstStyle/>
              <a:p>
                <a:r>
                  <a:rPr lang="en-US">
                    <a:noFill/>
                  </a:rPr>
                  <a:t> </a:t>
                </a:r>
              </a:p>
            </p:txBody>
          </p:sp>
        </mc:Fallback>
      </mc:AlternateContent>
    </p:spTree>
    <p:extLst>
      <p:ext uri="{BB962C8B-B14F-4D97-AF65-F5344CB8AC3E}">
        <p14:creationId xmlns:p14="http://schemas.microsoft.com/office/powerpoint/2010/main" val="4168981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07402-FC6D-BFA3-023C-957A82E0927D}"/>
              </a:ext>
            </a:extLst>
          </p:cNvPr>
          <p:cNvSpPr>
            <a:spLocks noGrp="1"/>
          </p:cNvSpPr>
          <p:nvPr>
            <p:ph type="title"/>
          </p:nvPr>
        </p:nvSpPr>
        <p:spPr>
          <a:xfrm>
            <a:off x="677334" y="136525"/>
            <a:ext cx="8596668" cy="743339"/>
          </a:xfrm>
        </p:spPr>
        <p:txBody>
          <a:bodyPr/>
          <a:lstStyle/>
          <a:p>
            <a:r>
              <a:rPr lang="en-US" dirty="0">
                <a:solidFill>
                  <a:srgbClr val="1391BC"/>
                </a:solidFill>
              </a:rPr>
              <a:t>Procedure</a:t>
            </a:r>
          </a:p>
        </p:txBody>
      </p:sp>
      <p:sp>
        <p:nvSpPr>
          <p:cNvPr id="3" name="Content Placeholder 2">
            <a:extLst>
              <a:ext uri="{FF2B5EF4-FFF2-40B4-BE49-F238E27FC236}">
                <a16:creationId xmlns:a16="http://schemas.microsoft.com/office/drawing/2014/main" id="{BA0A0C23-A92D-60DF-4EC9-9318977B664C}"/>
              </a:ext>
            </a:extLst>
          </p:cNvPr>
          <p:cNvSpPr>
            <a:spLocks noGrp="1"/>
          </p:cNvSpPr>
          <p:nvPr>
            <p:ph idx="1"/>
          </p:nvPr>
        </p:nvSpPr>
        <p:spPr>
          <a:xfrm>
            <a:off x="677334" y="1016388"/>
            <a:ext cx="8596668" cy="5421734"/>
          </a:xfrm>
        </p:spPr>
        <p:txBody>
          <a:bodyPr>
            <a:normAutofit lnSpcReduction="10000"/>
          </a:bodyPr>
          <a:lstStyle/>
          <a:p>
            <a:pPr marL="0" indent="0">
              <a:buNone/>
            </a:pPr>
            <a:r>
              <a:rPr lang="en-US" dirty="0"/>
              <a:t>1. 	Fasten the Photogate rigidly to a ring stand so the arms extend horizontally, as shown in Figure 1. The entire length of the Picket Fence must be able to fall freely through the Photogate. </a:t>
            </a:r>
            <a:r>
              <a:rPr lang="en-US" b="1" dirty="0"/>
              <a:t>To avoid damaging the Picket Fence, make sure it has a soft surface (such as a carpet) to land on.</a:t>
            </a:r>
          </a:p>
          <a:p>
            <a:pPr marL="0" indent="0">
              <a:buNone/>
            </a:pPr>
            <a:r>
              <a:rPr lang="en-US" dirty="0"/>
              <a:t>2. 	Connect the Photogate to the DIG/SONIC 1 input of the Vernier computer interface. </a:t>
            </a:r>
          </a:p>
          <a:p>
            <a:pPr marL="0" indent="0">
              <a:buNone/>
            </a:pPr>
            <a:r>
              <a:rPr lang="en-US" dirty="0"/>
              <a:t>3. 	</a:t>
            </a:r>
            <a:r>
              <a:rPr lang="en-US" sz="1800" dirty="0">
                <a:solidFill>
                  <a:schemeClr val="tx1"/>
                </a:solidFill>
                <a:cs typeface="Times New Roman" pitchFamily="18" charset="0"/>
              </a:rPr>
              <a:t>Look for Logger Pro on desktop and open.</a:t>
            </a:r>
          </a:p>
          <a:p>
            <a:pPr marL="0" indent="0">
              <a:buNone/>
            </a:pPr>
            <a:r>
              <a:rPr lang="en-US" sz="1800" dirty="0">
                <a:solidFill>
                  <a:schemeClr val="tx1"/>
                </a:solidFill>
                <a:cs typeface="Times New Roman" pitchFamily="18" charset="0"/>
                <a:sym typeface="Wingdings"/>
              </a:rPr>
              <a:t></a:t>
            </a:r>
            <a:r>
              <a:rPr lang="en-US" sz="1800" dirty="0">
                <a:solidFill>
                  <a:schemeClr val="tx1"/>
                </a:solidFill>
                <a:cs typeface="Times New Roman" pitchFamily="18" charset="0"/>
              </a:rPr>
              <a:t> file </a:t>
            </a:r>
            <a:r>
              <a:rPr lang="en-US" sz="1800" dirty="0">
                <a:solidFill>
                  <a:schemeClr val="tx1"/>
                </a:solidFill>
                <a:cs typeface="Times New Roman" pitchFamily="18" charset="0"/>
                <a:sym typeface="Wingdings"/>
              </a:rPr>
              <a:t></a:t>
            </a:r>
            <a:r>
              <a:rPr lang="en-US" sz="1800" dirty="0">
                <a:solidFill>
                  <a:schemeClr val="tx1"/>
                </a:solidFill>
                <a:cs typeface="Times New Roman" pitchFamily="18" charset="0"/>
              </a:rPr>
              <a:t> open </a:t>
            </a:r>
            <a:r>
              <a:rPr lang="en-US" sz="1800" dirty="0">
                <a:solidFill>
                  <a:schemeClr val="tx1"/>
                </a:solidFill>
                <a:cs typeface="Times New Roman" pitchFamily="18" charset="0"/>
                <a:sym typeface="Wingdings"/>
              </a:rPr>
              <a:t></a:t>
            </a:r>
            <a:r>
              <a:rPr lang="en-US" sz="1800" dirty="0">
                <a:solidFill>
                  <a:schemeClr val="tx1"/>
                </a:solidFill>
                <a:cs typeface="Times New Roman" pitchFamily="18" charset="0"/>
              </a:rPr>
              <a:t>  physics with computer</a:t>
            </a:r>
          </a:p>
          <a:p>
            <a:pPr marL="0" indent="0">
              <a:buNone/>
            </a:pPr>
            <a:r>
              <a:rPr lang="en-US" dirty="0"/>
              <a:t>Open the file “05 Picket Fence” in the Physics with Vernier folder. </a:t>
            </a:r>
          </a:p>
          <a:p>
            <a:pPr marL="0" indent="0">
              <a:buNone/>
            </a:pPr>
            <a:r>
              <a:rPr lang="en-US" dirty="0"/>
              <a:t>4. 	Observe the reading in the status bar of Logger Pro at the top of the screen. Block the Photogate with your hand; note that the Gate State is shown as Blocked. Remove your hand and the display should change to Unblocked. </a:t>
            </a:r>
          </a:p>
          <a:p>
            <a:pPr marL="0" indent="0">
              <a:buNone/>
            </a:pPr>
            <a:r>
              <a:rPr lang="en-US" dirty="0"/>
              <a:t>5.	Click                to prepare the Photogate. Hold the top of the Picket Fence and drop it through the Photogate, releasing it from your grasp completely before it enters the Photogate. Be careful when releasing the Picket Fence. It must not touch the sides of the Photogate as it falls and it needs to remain vertical. Click               to end data collection.</a:t>
            </a:r>
          </a:p>
          <a:p>
            <a:endParaRPr lang="en-US" dirty="0"/>
          </a:p>
        </p:txBody>
      </p:sp>
      <p:sp>
        <p:nvSpPr>
          <p:cNvPr id="13" name="Rectangle 8">
            <a:extLst>
              <a:ext uri="{FF2B5EF4-FFF2-40B4-BE49-F238E27FC236}">
                <a16:creationId xmlns:a16="http://schemas.microsoft.com/office/drawing/2014/main" id="{15A74D91-F073-96BB-96B4-6DC472C39BD3}"/>
              </a:ext>
              <a:ext uri="{C183D7F6-B498-43B3-948B-1728B52AA6E4}">
                <adec:decorative xmlns:adec="http://schemas.microsoft.com/office/drawing/2017/decorative" val="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3079" name="Picture 7" descr="An icon with a black triangle play button and the word 'Collect' underneath.">
            <a:extLst>
              <a:ext uri="{FF2B5EF4-FFF2-40B4-BE49-F238E27FC236}">
                <a16:creationId xmlns:a16="http://schemas.microsoft.com/office/drawing/2014/main" id="{DD9E43DB-47E9-61C0-3714-8EF02DF61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3719" y="5775648"/>
            <a:ext cx="887927" cy="289249"/>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9">
            <a:extLst>
              <a:ext uri="{FF2B5EF4-FFF2-40B4-BE49-F238E27FC236}">
                <a16:creationId xmlns:a16="http://schemas.microsoft.com/office/drawing/2014/main" id="{02E928C5-6A0E-7C20-AFE1-D164AB679362}"/>
              </a:ext>
              <a:ext uri="{C183D7F6-B498-43B3-948B-1728B52AA6E4}">
                <adec:decorative xmlns:adec="http://schemas.microsoft.com/office/drawing/2017/decorative" val="1"/>
              </a:ext>
            </a:extLst>
          </p:cNvPr>
          <p:cNvSpPr>
            <a:spLocks noChangeArrowheads="1"/>
          </p:cNvSpPr>
          <p:nvPr/>
        </p:nvSpPr>
        <p:spPr bwMode="auto">
          <a:xfrm>
            <a:off x="0" y="1365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rial" panose="020B0604020202020204" pitchFamily="34" charset="0"/>
                <a:ea typeface="Times New Roman" panose="02020603050405020304" pitchFamily="18" charset="0"/>
              </a:rPr>
              <a:t> </a:t>
            </a:r>
            <a:r>
              <a:rPr kumimoji="0" lang="en-US" altLang="en-US" sz="800"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5" name="Picture 7" descr="Placeholder image with a">
            <a:extLst>
              <a:ext uri="{FF2B5EF4-FFF2-40B4-BE49-F238E27FC236}">
                <a16:creationId xmlns:a16="http://schemas.microsoft.com/office/drawing/2014/main" id="{7A1318C0-0260-BDA1-E3FE-BA49A48318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9756" y="4749281"/>
            <a:ext cx="887927" cy="289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033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902D6-B6B4-64AA-5C45-81DB7B7ED18D}"/>
              </a:ext>
            </a:extLst>
          </p:cNvPr>
          <p:cNvSpPr>
            <a:spLocks noGrp="1"/>
          </p:cNvSpPr>
          <p:nvPr>
            <p:ph type="title"/>
          </p:nvPr>
        </p:nvSpPr>
        <p:spPr>
          <a:xfrm>
            <a:off x="584028" y="0"/>
            <a:ext cx="8596668" cy="804815"/>
          </a:xfrm>
        </p:spPr>
        <p:txBody>
          <a:bodyPr/>
          <a:lstStyle/>
          <a:p>
            <a:r>
              <a:rPr lang="en-US" dirty="0">
                <a:solidFill>
                  <a:srgbClr val="1391BC"/>
                </a:solidFill>
              </a:rPr>
              <a:t>Procedure, </a:t>
            </a:r>
            <a:r>
              <a:rPr lang="en-US" dirty="0" err="1">
                <a:solidFill>
                  <a:srgbClr val="1391BC"/>
                </a:solidFill>
              </a:rPr>
              <a:t>Cont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71AE57-A99C-29F1-259F-2644F157B6B0}"/>
                  </a:ext>
                </a:extLst>
              </p:cNvPr>
              <p:cNvSpPr>
                <a:spLocks noGrp="1"/>
              </p:cNvSpPr>
              <p:nvPr>
                <p:ph idx="1"/>
              </p:nvPr>
            </p:nvSpPr>
            <p:spPr>
              <a:xfrm>
                <a:off x="388084" y="726438"/>
                <a:ext cx="8596668" cy="3369312"/>
              </a:xfrm>
            </p:spPr>
            <p:txBody>
              <a:bodyPr>
                <a:normAutofit fontScale="85000" lnSpcReduction="10000"/>
              </a:bodyPr>
              <a:lstStyle/>
              <a:p>
                <a:pPr marL="0" indent="0">
                  <a:buNone/>
                </a:pPr>
                <a:r>
                  <a:rPr lang="en-US" sz="1900" dirty="0"/>
                  <a:t>6.</a:t>
                </a:r>
                <a:r>
                  <a:rPr lang="en-US" sz="2100" dirty="0"/>
                  <a:t>	Examine your graphs. The slope of a velocity vs. time graph is a measure of acceleration. If the velocity graph is approximately a straight line of constant slope, the acceleration is constant. If the acceleration of your Picket Fence appears constant, fit a straight line to your data. To do this, click on the velocity graph once to select it, then click the Linear Fit button,       , to fit the line </a:t>
                </a:r>
              </a:p>
              <a:p>
                <a:pPr marL="0" indent="0">
                  <a:buNone/>
                </a:pPr>
                <a14:m>
                  <m:oMath xmlns:m="http://schemas.openxmlformats.org/officeDocument/2006/math">
                    <m:r>
                      <a:rPr lang="en-US" sz="2100" i="1" dirty="0" smtClean="0">
                        <a:latin typeface="Cambria Math" panose="02040503050406030204" pitchFamily="18" charset="0"/>
                      </a:rPr>
                      <m:t>𝑦</m:t>
                    </m:r>
                    <m:r>
                      <a:rPr lang="en-US" sz="2100" i="1" dirty="0" smtClean="0">
                        <a:latin typeface="Cambria Math" panose="02040503050406030204" pitchFamily="18" charset="0"/>
                      </a:rPr>
                      <m:t> = </m:t>
                    </m:r>
                    <m:r>
                      <a:rPr lang="en-US" sz="2100" i="1" dirty="0" smtClean="0">
                        <a:latin typeface="Cambria Math" panose="02040503050406030204" pitchFamily="18" charset="0"/>
                      </a:rPr>
                      <m:t>𝑚𝑡</m:t>
                    </m:r>
                    <m:r>
                      <a:rPr lang="en-US" sz="2100" i="1" dirty="0" smtClean="0">
                        <a:latin typeface="Cambria Math" panose="02040503050406030204" pitchFamily="18" charset="0"/>
                      </a:rPr>
                      <m:t> + </m:t>
                    </m:r>
                    <m:r>
                      <a:rPr lang="en-US" sz="2100" i="1" dirty="0" smtClean="0">
                        <a:latin typeface="Cambria Math" panose="02040503050406030204" pitchFamily="18" charset="0"/>
                      </a:rPr>
                      <m:t>𝑏</m:t>
                    </m:r>
                    <m:r>
                      <a:rPr lang="en-US" sz="2100" i="1" dirty="0" smtClean="0">
                        <a:latin typeface="Cambria Math" panose="02040503050406030204" pitchFamily="18" charset="0"/>
                      </a:rPr>
                      <m:t> </m:t>
                    </m:r>
                  </m:oMath>
                </a14:m>
                <a:r>
                  <a:rPr lang="en-US" sz="2100" dirty="0"/>
                  <a:t>to the data. Record the slope in the data table.</a:t>
                </a:r>
              </a:p>
              <a:p>
                <a:pPr marL="0" indent="0">
                  <a:buNone/>
                </a:pPr>
                <a:r>
                  <a:rPr lang="en-US" sz="2100" dirty="0"/>
                  <a:t>7.	To establish the reliability of your slope measurement, repeat Steps 5 and 6 five more times. Do not use drops in which the Picket Fence hits or misses the Photogate. Record the slope values in the data table. </a:t>
                </a:r>
              </a:p>
              <a:p>
                <a:pPr marL="0" indent="0">
                  <a:buNone/>
                </a:pPr>
                <a:endParaRPr lang="en-US" sz="500" dirty="0"/>
              </a:p>
              <a:p>
                <a:pPr marL="0" indent="0" algn="ctr">
                  <a:buNone/>
                </a:pPr>
                <a:r>
                  <a:rPr lang="en-US" b="1" dirty="0"/>
                  <a:t>DATA TABLE</a:t>
                </a:r>
              </a:p>
            </p:txBody>
          </p:sp>
        </mc:Choice>
        <mc:Fallback xmlns="">
          <p:sp>
            <p:nvSpPr>
              <p:cNvPr id="3" name="Content Placeholder 2">
                <a:extLst>
                  <a:ext uri="{FF2B5EF4-FFF2-40B4-BE49-F238E27FC236}">
                    <a16:creationId xmlns:a16="http://schemas.microsoft.com/office/drawing/2014/main" id="{6671AE57-A99C-29F1-259F-2644F157B6B0}"/>
                  </a:ext>
                </a:extLst>
              </p:cNvPr>
              <p:cNvSpPr>
                <a:spLocks noAdjustHandles="1" noChangeArrowheads="1" noChangeAspect="1" noChangeShapeType="1" noEditPoints="1" noGrp="1" noMove="1" noResize="1" noRot="1" noTextEdit="1"/>
              </p:cNvSpPr>
              <p:nvPr>
                <p:ph idx="1"/>
              </p:nvPr>
            </p:nvSpPr>
            <p:spPr>
              <a:xfrm>
                <a:off x="388084" y="726438"/>
                <a:ext cx="8596668" cy="3369312"/>
              </a:xfrm>
              <a:blipFill>
                <a:blip r:embed="rId2"/>
                <a:stretch>
                  <a:fillRect l="-638" r="-355" t="-1808"/>
                </a:stretch>
              </a:blipFill>
            </p:spPr>
            <p:txBody>
              <a:bodyPr/>
              <a:lstStyle/>
              <a:p>
                <a:r>
                  <a:rPr lang="en-US">
                    <a:noFill/>
                  </a:rPr>
                  <a:t> </a:t>
                </a:r>
              </a:p>
            </p:txBody>
          </p:sp>
        </mc:Fallback>
      </mc:AlternateContent>
      <p:pic>
        <p:nvPicPr>
          <p:cNvPr id="15" name="Picture 4" descr="Graph showing the relationship between velocity and time, illustrating the slope as acceleration.">
            <a:extLst>
              <a:ext uri="{FF2B5EF4-FFF2-40B4-BE49-F238E27FC236}">
                <a16:creationId xmlns:a16="http://schemas.microsoft.com/office/drawing/2014/main" id="{882BD996-649A-B736-C2CC-9D9D56C85D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1025" y="3166288"/>
            <a:ext cx="3683453" cy="3691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2" name="Table 21">
            <a:extLst>
              <a:ext uri="{FF2B5EF4-FFF2-40B4-BE49-F238E27FC236}">
                <a16:creationId xmlns:a16="http://schemas.microsoft.com/office/drawing/2014/main" id="{1543E6ED-079D-ED53-FEB8-D3107863B106}"/>
              </a:ext>
            </a:extLst>
          </p:cNvPr>
          <p:cNvGraphicFramePr>
            <a:graphicFrameLocks noGrp="1"/>
          </p:cNvGraphicFramePr>
          <p:nvPr>
            <p:extLst>
              <p:ext uri="{D42A27DB-BD31-4B8C-83A1-F6EECF244321}">
                <p14:modId xmlns:p14="http://schemas.microsoft.com/office/powerpoint/2010/main" val="852518900"/>
              </p:ext>
            </p:extLst>
          </p:nvPr>
        </p:nvGraphicFramePr>
        <p:xfrm>
          <a:off x="687302" y="3990975"/>
          <a:ext cx="6607348" cy="1343024"/>
        </p:xfrm>
        <a:graphic>
          <a:graphicData uri="http://schemas.openxmlformats.org/drawingml/2006/table">
            <a:tbl>
              <a:tblPr firstRow="1" bandRow="1">
                <a:tableStyleId>{5C22544A-7EE6-4342-B048-85BDC9FD1C3A}</a:tableStyleId>
              </a:tblPr>
              <a:tblGrid>
                <a:gridCol w="1436380">
                  <a:extLst>
                    <a:ext uri="{9D8B030D-6E8A-4147-A177-3AD203B41FA5}">
                      <a16:colId xmlns:a16="http://schemas.microsoft.com/office/drawing/2014/main" val="1156801554"/>
                    </a:ext>
                  </a:extLst>
                </a:gridCol>
                <a:gridCol w="861828">
                  <a:extLst>
                    <a:ext uri="{9D8B030D-6E8A-4147-A177-3AD203B41FA5}">
                      <a16:colId xmlns:a16="http://schemas.microsoft.com/office/drawing/2014/main" val="405345254"/>
                    </a:ext>
                  </a:extLst>
                </a:gridCol>
                <a:gridCol w="861828">
                  <a:extLst>
                    <a:ext uri="{9D8B030D-6E8A-4147-A177-3AD203B41FA5}">
                      <a16:colId xmlns:a16="http://schemas.microsoft.com/office/drawing/2014/main" val="458070122"/>
                    </a:ext>
                  </a:extLst>
                </a:gridCol>
                <a:gridCol w="861828">
                  <a:extLst>
                    <a:ext uri="{9D8B030D-6E8A-4147-A177-3AD203B41FA5}">
                      <a16:colId xmlns:a16="http://schemas.microsoft.com/office/drawing/2014/main" val="1823804447"/>
                    </a:ext>
                  </a:extLst>
                </a:gridCol>
                <a:gridCol w="861828">
                  <a:extLst>
                    <a:ext uri="{9D8B030D-6E8A-4147-A177-3AD203B41FA5}">
                      <a16:colId xmlns:a16="http://schemas.microsoft.com/office/drawing/2014/main" val="3341275913"/>
                    </a:ext>
                  </a:extLst>
                </a:gridCol>
                <a:gridCol w="861828">
                  <a:extLst>
                    <a:ext uri="{9D8B030D-6E8A-4147-A177-3AD203B41FA5}">
                      <a16:colId xmlns:a16="http://schemas.microsoft.com/office/drawing/2014/main" val="635066478"/>
                    </a:ext>
                  </a:extLst>
                </a:gridCol>
                <a:gridCol w="861828">
                  <a:extLst>
                    <a:ext uri="{9D8B030D-6E8A-4147-A177-3AD203B41FA5}">
                      <a16:colId xmlns:a16="http://schemas.microsoft.com/office/drawing/2014/main" val="3570226253"/>
                    </a:ext>
                  </a:extLst>
                </a:gridCol>
              </a:tblGrid>
              <a:tr h="501749">
                <a:tc>
                  <a:txBody>
                    <a:bodyPr/>
                    <a:lstStyle/>
                    <a:p>
                      <a:pPr algn="ctr"/>
                      <a:r>
                        <a:rPr lang="en-US" b="0" dirty="0">
                          <a:solidFill>
                            <a:schemeClr val="tx1"/>
                          </a:solidFill>
                        </a:rPr>
                        <a:t>Trial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b="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6307247"/>
                  </a:ext>
                </a:extLst>
              </a:tr>
              <a:tr h="841275">
                <a:tc>
                  <a:txBody>
                    <a:bodyPr/>
                    <a:lstStyle/>
                    <a:p>
                      <a:pPr algn="ctr"/>
                      <a:r>
                        <a:rPr lang="en-US" b="0" dirty="0">
                          <a:solidFill>
                            <a:schemeClr val="tx1"/>
                          </a:solidFill>
                        </a:rPr>
                        <a:t>Slope </a:t>
                      </a:r>
                    </a:p>
                    <a:p>
                      <a:pPr algn="ctr"/>
                      <a:r>
                        <a:rPr lang="en-US" b="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6035176"/>
                  </a:ext>
                </a:extLst>
              </a:tr>
            </a:tbl>
          </a:graphicData>
        </a:graphic>
      </p:graphicFrame>
      <p:pic>
        <p:nvPicPr>
          <p:cNvPr id="4" name="Picture 3" descr="A blank white square with no visible objects or details.">
            <a:extLst>
              <a:ext uri="{FF2B5EF4-FFF2-40B4-BE49-F238E27FC236}">
                <a16:creationId xmlns:a16="http://schemas.microsoft.com/office/drawing/2014/main" id="{81346F45-3A9B-A8CC-8EE3-E07318909AB5}"/>
              </a:ext>
            </a:extLst>
          </p:cNvPr>
          <p:cNvPicPr>
            <a:picLocks noChangeAspect="1"/>
          </p:cNvPicPr>
          <p:nvPr/>
        </p:nvPicPr>
        <p:blipFill>
          <a:blip r:embed="rId4"/>
          <a:stretch>
            <a:fillRect/>
          </a:stretch>
        </p:blipFill>
        <p:spPr>
          <a:xfrm>
            <a:off x="6338896" y="1736842"/>
            <a:ext cx="274024" cy="274024"/>
          </a:xfrm>
          <a:prstGeom prst="rect">
            <a:avLst/>
          </a:prstGeom>
        </p:spPr>
      </p:pic>
    </p:spTree>
    <p:extLst>
      <p:ext uri="{BB962C8B-B14F-4D97-AF65-F5344CB8AC3E}">
        <p14:creationId xmlns:p14="http://schemas.microsoft.com/office/powerpoint/2010/main" val="1125489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73792-A921-9F59-69F3-335D60764F37}"/>
              </a:ext>
            </a:extLst>
          </p:cNvPr>
          <p:cNvSpPr>
            <a:spLocks noGrp="1"/>
          </p:cNvSpPr>
          <p:nvPr>
            <p:ph type="title"/>
          </p:nvPr>
        </p:nvSpPr>
        <p:spPr>
          <a:xfrm>
            <a:off x="677334" y="514948"/>
            <a:ext cx="8596668" cy="603380"/>
          </a:xfrm>
        </p:spPr>
        <p:txBody>
          <a:bodyPr>
            <a:normAutofit fontScale="90000"/>
          </a:bodyPr>
          <a:lstStyle/>
          <a:p>
            <a:r>
              <a:rPr lang="en-US" dirty="0">
                <a:solidFill>
                  <a:srgbClr val="1391BC"/>
                </a:solidFill>
              </a:rPr>
              <a:t>Analysis</a:t>
            </a:r>
          </a:p>
        </p:txBody>
      </p:sp>
      <p:sp>
        <p:nvSpPr>
          <p:cNvPr id="3" name="Content Placeholder 2">
            <a:extLst>
              <a:ext uri="{FF2B5EF4-FFF2-40B4-BE49-F238E27FC236}">
                <a16:creationId xmlns:a16="http://schemas.microsoft.com/office/drawing/2014/main" id="{B73C6947-542E-8284-0A01-078652FAD579}"/>
              </a:ext>
            </a:extLst>
          </p:cNvPr>
          <p:cNvSpPr>
            <a:spLocks noGrp="1"/>
          </p:cNvSpPr>
          <p:nvPr>
            <p:ph idx="1"/>
          </p:nvPr>
        </p:nvSpPr>
        <p:spPr>
          <a:xfrm>
            <a:off x="677334" y="1386148"/>
            <a:ext cx="8596668" cy="3880773"/>
          </a:xfrm>
        </p:spPr>
        <p:txBody>
          <a:bodyPr/>
          <a:lstStyle/>
          <a:p>
            <a:pPr marL="0" indent="0">
              <a:buNone/>
            </a:pPr>
            <a:r>
              <a:rPr lang="en-US" dirty="0"/>
              <a:t>1. 	From your six trials, determine the minimum, maximum, and average values for the acceleration of the Picket Fence. Record them in the data table below.</a:t>
            </a:r>
          </a:p>
          <a:p>
            <a:pPr marL="0" indent="0">
              <a:buNone/>
            </a:pPr>
            <a:endParaRPr lang="en-US" dirty="0"/>
          </a:p>
          <a:p>
            <a:pPr marL="0" indent="0">
              <a:buNone/>
            </a:pPr>
            <a:endParaRPr lang="en-US" dirty="0"/>
          </a:p>
          <a:p>
            <a:pPr marL="0" indent="0">
              <a:buNone/>
            </a:pPr>
            <a:endParaRPr lang="en-US" dirty="0"/>
          </a:p>
        </p:txBody>
      </p:sp>
      <p:graphicFrame>
        <p:nvGraphicFramePr>
          <p:cNvPr id="4" name="Object 3" descr="A table with Minimum , Maximum and and Average as table header. The next row is a row header for acceleration which pertains to the min, max, and average columns.">
            <a:extLst>
              <a:ext uri="{FF2B5EF4-FFF2-40B4-BE49-F238E27FC236}">
                <a16:creationId xmlns:a16="http://schemas.microsoft.com/office/drawing/2014/main" id="{6011EB91-72AD-0FFA-F2F5-89A8E8BE7B21}"/>
              </a:ext>
            </a:extLst>
          </p:cNvPr>
          <p:cNvGraphicFramePr>
            <a:graphicFrameLocks noChangeAspect="1"/>
          </p:cNvGraphicFramePr>
          <p:nvPr>
            <p:extLst>
              <p:ext uri="{D42A27DB-BD31-4B8C-83A1-F6EECF244321}">
                <p14:modId xmlns:p14="http://schemas.microsoft.com/office/powerpoint/2010/main" val="3057211248"/>
              </p:ext>
            </p:extLst>
          </p:nvPr>
        </p:nvGraphicFramePr>
        <p:xfrm>
          <a:off x="-574385" y="2141072"/>
          <a:ext cx="10343534" cy="1185462"/>
        </p:xfrm>
        <a:graphic>
          <a:graphicData uri="http://schemas.openxmlformats.org/presentationml/2006/ole">
            <mc:AlternateContent xmlns:mc="http://schemas.openxmlformats.org/markup-compatibility/2006">
              <mc:Choice xmlns:v="urn:schemas-microsoft-com:vml" Requires="v">
                <p:oleObj name="Document" r:id="rId2" imgW="6455060" imgH="740141" progId="Word.Document.12">
                  <p:embed/>
                </p:oleObj>
              </mc:Choice>
              <mc:Fallback>
                <p:oleObj name="Document" r:id="rId2" imgW="6455060" imgH="740141" progId="Word.Document.12">
                  <p:embed/>
                  <p:pic>
                    <p:nvPicPr>
                      <p:cNvPr id="4" name="Object 3">
                        <a:extLst>
                          <a:ext uri="{FF2B5EF4-FFF2-40B4-BE49-F238E27FC236}">
                            <a16:creationId xmlns:a16="http://schemas.microsoft.com/office/drawing/2014/main" id="{6011EB91-72AD-0FFA-F2F5-89A8E8BE7B21}"/>
                          </a:ext>
                        </a:extLst>
                      </p:cNvPr>
                      <p:cNvPicPr/>
                      <p:nvPr/>
                    </p:nvPicPr>
                    <p:blipFill>
                      <a:blip r:embed="rId3"/>
                      <a:stretch>
                        <a:fillRect/>
                      </a:stretch>
                    </p:blipFill>
                    <p:spPr>
                      <a:xfrm>
                        <a:off x="-574385" y="2141072"/>
                        <a:ext cx="10343534" cy="1185462"/>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177F5469-DE08-DEC0-2985-ADB08ECB5C9D}"/>
              </a:ext>
            </a:extLst>
          </p:cNvPr>
          <p:cNvSpPr txBox="1"/>
          <p:nvPr/>
        </p:nvSpPr>
        <p:spPr>
          <a:xfrm>
            <a:off x="677334" y="3175817"/>
            <a:ext cx="8331371" cy="646331"/>
          </a:xfrm>
          <a:prstGeom prst="rect">
            <a:avLst/>
          </a:prstGeom>
          <a:noFill/>
        </p:spPr>
        <p:txBody>
          <a:bodyPr wrap="square">
            <a:spAutoFit/>
          </a:bodyPr>
          <a:lstStyle/>
          <a:p>
            <a:r>
              <a:rPr lang="en-US" dirty="0"/>
              <a:t>2. 	Describe in words and sketch the shape of the position vs. time graph for the free fall. </a:t>
            </a:r>
          </a:p>
        </p:txBody>
      </p:sp>
      <p:sp>
        <p:nvSpPr>
          <p:cNvPr id="8" name="TextBox 7">
            <a:extLst>
              <a:ext uri="{FF2B5EF4-FFF2-40B4-BE49-F238E27FC236}">
                <a16:creationId xmlns:a16="http://schemas.microsoft.com/office/drawing/2014/main" id="{968A6896-596B-3B33-6F11-EADD93383EC7}"/>
              </a:ext>
            </a:extLst>
          </p:cNvPr>
          <p:cNvSpPr txBox="1"/>
          <p:nvPr/>
        </p:nvSpPr>
        <p:spPr>
          <a:xfrm>
            <a:off x="677334" y="3933563"/>
            <a:ext cx="8858552" cy="646331"/>
          </a:xfrm>
          <a:prstGeom prst="rect">
            <a:avLst/>
          </a:prstGeom>
          <a:noFill/>
        </p:spPr>
        <p:txBody>
          <a:bodyPr wrap="square">
            <a:spAutoFit/>
          </a:bodyPr>
          <a:lstStyle/>
          <a:p>
            <a:r>
              <a:rPr lang="en-US" dirty="0"/>
              <a:t>3.	Describe in words and sketch the shape of the velocity vs. time graph. How is this related to the shape of the position vs. time graph?</a:t>
            </a:r>
          </a:p>
        </p:txBody>
      </p:sp>
    </p:spTree>
    <p:extLst>
      <p:ext uri="{BB962C8B-B14F-4D97-AF65-F5344CB8AC3E}">
        <p14:creationId xmlns:p14="http://schemas.microsoft.com/office/powerpoint/2010/main" val="3522822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9E46-29AA-22D6-EECA-4330D9C96739}"/>
              </a:ext>
            </a:extLst>
          </p:cNvPr>
          <p:cNvSpPr>
            <a:spLocks noGrp="1"/>
          </p:cNvSpPr>
          <p:nvPr>
            <p:ph type="title"/>
          </p:nvPr>
        </p:nvSpPr>
        <p:spPr>
          <a:xfrm>
            <a:off x="668004" y="161731"/>
            <a:ext cx="8596668" cy="752669"/>
          </a:xfrm>
        </p:spPr>
        <p:txBody>
          <a:bodyPr/>
          <a:lstStyle/>
          <a:p>
            <a:r>
              <a:rPr lang="en-US" dirty="0">
                <a:solidFill>
                  <a:srgbClr val="1391BC"/>
                </a:solidFill>
              </a:rPr>
              <a:t>Analysis, </a:t>
            </a:r>
            <a:r>
              <a:rPr lang="en-US" dirty="0" err="1">
                <a:solidFill>
                  <a:srgbClr val="1391BC"/>
                </a:solidFill>
              </a:rPr>
              <a:t>Cont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29231D-4E9B-2210-01E7-D11A97B2B41C}"/>
                  </a:ext>
                </a:extLst>
              </p:cNvPr>
              <p:cNvSpPr>
                <a:spLocks noGrp="1"/>
              </p:cNvSpPr>
              <p:nvPr>
                <p:ph idx="1"/>
              </p:nvPr>
            </p:nvSpPr>
            <p:spPr>
              <a:xfrm>
                <a:off x="742648" y="914401"/>
                <a:ext cx="8718593" cy="4454986"/>
              </a:xfrm>
            </p:spPr>
            <p:txBody>
              <a:bodyPr>
                <a:normAutofit/>
              </a:bodyPr>
              <a:lstStyle/>
              <a:p>
                <a:pPr marL="400050" lvl="1" indent="0">
                  <a:buNone/>
                </a:pPr>
                <a:r>
                  <a:rPr lang="en-US" sz="1800" dirty="0"/>
                  <a:t>4. (a)  The average acceleration you determined represents a single best value, derived from all your measurements. The minimum and maximum values give an indication of how much the measurements can vary from trial to trial; that is, they indicate the precision of your measurement. One way of stating the precision is to take half of the difference between 	the 	minimum and maximum values and use the result as the uncertainty </a:t>
                </a:r>
                <a:r>
                  <a:rPr lang="en-US" sz="1800"/>
                  <a:t>of the </a:t>
                </a:r>
                <a:r>
                  <a:rPr lang="en-US" sz="1800" dirty="0"/>
                  <a:t>measurement</a:t>
                </a:r>
                <a:r>
                  <a:rPr lang="en-US" sz="1800"/>
                  <a:t>. Do </a:t>
                </a:r>
                <a:r>
                  <a:rPr lang="en-US" sz="1800" dirty="0"/>
                  <a:t>this with your data. </a:t>
                </a:r>
              </a:p>
              <a:p>
                <a:pPr marL="0" indent="0">
                  <a:buNone/>
                </a:pPr>
                <a:r>
                  <a:rPr lang="en-US" dirty="0"/>
                  <a:t>	(b) Express your final experimental result as the average value, * the 	uncertainty. Round the uncertainty to two digits and round the average value 	to the same decimal place. For example, if your minimum, average and 	maximum values are </a:t>
                </a:r>
                <a14:m>
                  <m:oMath xmlns:m="http://schemas.openxmlformats.org/officeDocument/2006/math">
                    <m:r>
                      <a:rPr lang="en-US" i="1" dirty="0" smtClean="0">
                        <a:latin typeface="Cambria Math" panose="02040503050406030204" pitchFamily="18" charset="0"/>
                      </a:rPr>
                      <m:t>9.10</m:t>
                    </m:r>
                  </m:oMath>
                </a14:m>
                <a:r>
                  <a:rPr lang="en-US" dirty="0"/>
                  <a:t>, </a:t>
                </a:r>
                <a14:m>
                  <m:oMath xmlns:m="http://schemas.openxmlformats.org/officeDocument/2006/math">
                    <m:r>
                      <a:rPr lang="en-US" i="1" dirty="0" smtClean="0">
                        <a:latin typeface="Cambria Math" panose="02040503050406030204" pitchFamily="18" charset="0"/>
                      </a:rPr>
                      <m:t>9.96, </m:t>
                    </m:r>
                  </m:oMath>
                </a14:m>
                <a:r>
                  <a:rPr lang="en-US" dirty="0"/>
                  <a:t>and </a:t>
                </a:r>
                <a14:m>
                  <m:oMath xmlns:m="http://schemas.openxmlformats.org/officeDocument/2006/math">
                    <m:r>
                      <a:rPr lang="en-US" i="1" dirty="0" smtClean="0">
                        <a:latin typeface="Cambria Math" panose="02040503050406030204" pitchFamily="18" charset="0"/>
                      </a:rPr>
                      <m:t>10.82 </m:t>
                    </m:r>
                    <m:r>
                      <a:rPr lang="en-US" i="1" dirty="0" smtClean="0">
                        <a:latin typeface="Cambria Math" panose="02040503050406030204" pitchFamily="18" charset="0"/>
                      </a:rPr>
                      <m:t>𝑚</m:t>
                    </m:r>
                    <m:r>
                      <a:rPr lang="en-US" i="1" dirty="0" smtClean="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𝑠</m:t>
                        </m:r>
                      </m:e>
                      <m:sup>
                        <m:r>
                          <a:rPr lang="en-US" i="1" dirty="0">
                            <a:latin typeface="Cambria Math" panose="02040503050406030204" pitchFamily="18" charset="0"/>
                          </a:rPr>
                          <m:t>2</m:t>
                        </m:r>
                      </m:sup>
                    </m:sSup>
                  </m:oMath>
                </a14:m>
                <a:r>
                  <a:rPr lang="en-US" dirty="0"/>
                  <a:t>, your result would be </a:t>
                </a:r>
              </a:p>
              <a:p>
                <a:pPr marL="0" indent="0">
                  <a:buNone/>
                </a:pPr>
                <a:r>
                  <a:rPr lang="en-US" dirty="0"/>
                  <a:t>	</a:t>
                </a:r>
                <a14:m>
                  <m:oMath xmlns:m="http://schemas.openxmlformats.org/officeDocument/2006/math">
                    <m:r>
                      <a:rPr lang="en-US" i="1" dirty="0" smtClean="0">
                        <a:latin typeface="Cambria Math" panose="02040503050406030204" pitchFamily="18" charset="0"/>
                      </a:rPr>
                      <m:t>𝑔</m:t>
                    </m:r>
                    <m:r>
                      <a:rPr lang="en-US" b="0" i="1" dirty="0" smtClean="0">
                        <a:latin typeface="Cambria Math" panose="02040503050406030204" pitchFamily="18" charset="0"/>
                      </a:rPr>
                      <m:t>  </m:t>
                    </m:r>
                    <m:r>
                      <a:rPr lang="en-US" i="1" dirty="0" smtClean="0">
                        <a:latin typeface="Cambria Math" panose="02040503050406030204" pitchFamily="18" charset="0"/>
                      </a:rPr>
                      <m:t> = 9.96 ± 0.86 </m:t>
                    </m:r>
                    <m:r>
                      <a:rPr lang="en-US" i="1" dirty="0" smtClean="0">
                        <a:latin typeface="Cambria Math" panose="02040503050406030204" pitchFamily="18" charset="0"/>
                      </a:rPr>
                      <m:t>𝑚</m:t>
                    </m:r>
                    <m:r>
                      <a:rPr lang="en-US" i="1" dirty="0" smtClean="0">
                        <a:latin typeface="Cambria Math" panose="02040503050406030204" pitchFamily="18" charset="0"/>
                      </a:rPr>
                      <m:t>/</m:t>
                    </m:r>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𝑠</m:t>
                        </m:r>
                      </m:e>
                      <m:sup>
                        <m:r>
                          <a:rPr lang="en-US" b="0" i="1" dirty="0" smtClean="0">
                            <a:latin typeface="Cambria Math" panose="02040503050406030204" pitchFamily="18" charset="0"/>
                          </a:rPr>
                          <m:t>2</m:t>
                        </m:r>
                      </m:sup>
                    </m:sSup>
                    <m:r>
                      <a:rPr lang="en-US" i="1" dirty="0" smtClean="0">
                        <a:latin typeface="Cambria Math" panose="02040503050406030204" pitchFamily="18" charset="0"/>
                      </a:rPr>
                      <m:t>.</m:t>
                    </m:r>
                  </m:oMath>
                </a14:m>
                <a:r>
                  <a:rPr lang="en-US" dirty="0"/>
                  <a:t> Record your values in the data table.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E829231D-4E9B-2210-01E7-D11A97B2B41C}"/>
                  </a:ext>
                </a:extLst>
              </p:cNvPr>
              <p:cNvSpPr>
                <a:spLocks noAdjustHandles="1" noChangeArrowheads="1" noChangeAspect="1" noChangeShapeType="1" noEditPoints="1" noGrp="1" noMove="1" noResize="1" noRot="1" noTextEdit="1"/>
              </p:cNvSpPr>
              <p:nvPr>
                <p:ph idx="1"/>
              </p:nvPr>
            </p:nvSpPr>
            <p:spPr>
              <a:xfrm>
                <a:off x="742648" y="914401"/>
                <a:ext cx="8718593" cy="4454986"/>
              </a:xfrm>
              <a:blipFill>
                <a:blip r:embed="rId2"/>
                <a:stretch>
                  <a:fillRect t="-821"/>
                </a:stretch>
              </a:blipFill>
            </p:spPr>
            <p:txBody>
              <a:bodyPr/>
              <a:lstStyle/>
              <a:p>
                <a:r>
                  <a:rPr lang="en-US">
                    <a:noFill/>
                  </a:rPr>
                  <a:t> </a:t>
                </a:r>
              </a:p>
            </p:txBody>
          </p:sp>
        </mc:Fallback>
      </mc:AlternateContent>
    </p:spTree>
    <p:extLst>
      <p:ext uri="{BB962C8B-B14F-4D97-AF65-F5344CB8AC3E}">
        <p14:creationId xmlns:p14="http://schemas.microsoft.com/office/powerpoint/2010/main" val="37995964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F5349-4FAA-FE18-EDA6-B0655ADF765E}"/>
              </a:ext>
            </a:extLst>
          </p:cNvPr>
          <p:cNvSpPr>
            <a:spLocks noGrp="1"/>
          </p:cNvSpPr>
          <p:nvPr>
            <p:ph type="title"/>
          </p:nvPr>
        </p:nvSpPr>
        <p:spPr>
          <a:xfrm>
            <a:off x="677334" y="245707"/>
            <a:ext cx="8596668" cy="771331"/>
          </a:xfrm>
        </p:spPr>
        <p:txBody>
          <a:bodyPr/>
          <a:lstStyle/>
          <a:p>
            <a:r>
              <a:rPr lang="en-US" dirty="0">
                <a:solidFill>
                  <a:srgbClr val="1391BC"/>
                </a:solidFill>
              </a:rPr>
              <a:t>Analysis, Continued.</a:t>
            </a:r>
            <a:endParaRPr lang="en-US" dirty="0"/>
          </a:p>
        </p:txBody>
      </p:sp>
      <p:sp>
        <p:nvSpPr>
          <p:cNvPr id="3" name="Content Placeholder 2">
            <a:extLst>
              <a:ext uri="{FF2B5EF4-FFF2-40B4-BE49-F238E27FC236}">
                <a16:creationId xmlns:a16="http://schemas.microsoft.com/office/drawing/2014/main" id="{1F8C8A2C-4F74-DE10-DF3A-89FE7C5ECA67}"/>
              </a:ext>
            </a:extLst>
          </p:cNvPr>
          <p:cNvSpPr>
            <a:spLocks noGrp="1"/>
          </p:cNvSpPr>
          <p:nvPr>
            <p:ph idx="1"/>
          </p:nvPr>
        </p:nvSpPr>
        <p:spPr>
          <a:xfrm>
            <a:off x="677334" y="1017038"/>
            <a:ext cx="8596668" cy="4548464"/>
          </a:xfrm>
        </p:spPr>
        <p:txBody>
          <a:bodyPr/>
          <a:lstStyle/>
          <a:p>
            <a:pPr marL="0" indent="0">
              <a:buNone/>
            </a:pPr>
            <a:endParaRPr lang="en-US" sz="1050" dirty="0"/>
          </a:p>
          <a:p>
            <a:pPr marL="0" indent="0">
              <a:buNone/>
            </a:pPr>
            <a:endParaRPr lang="en-US" sz="1050" dirty="0"/>
          </a:p>
          <a:p>
            <a:pPr marL="0" indent="0">
              <a:buNone/>
            </a:pPr>
            <a:endParaRPr lang="en-US" sz="1050" dirty="0"/>
          </a:p>
          <a:p>
            <a:pPr marL="0" indent="0">
              <a:buNone/>
            </a:pPr>
            <a:endParaRPr lang="en-US" sz="1050" dirty="0"/>
          </a:p>
          <a:p>
            <a:pPr marL="0" indent="0">
              <a:buNone/>
            </a:pPr>
            <a:endParaRPr lang="en-US" sz="1050" dirty="0"/>
          </a:p>
          <a:p>
            <a:pPr marL="0" indent="0">
              <a:buNone/>
            </a:pPr>
            <a:r>
              <a:rPr lang="en-US" dirty="0"/>
              <a:t>	(e) Express the uncertainty as a percentage of the acceleration. This is the 	precision of your experiment. Using the example numbers from the last step, 	the precision would be: </a:t>
            </a:r>
          </a:p>
          <a:p>
            <a:endParaRPr lang="en-US" dirty="0"/>
          </a:p>
          <a:p>
            <a:endParaRPr lang="en-US" dirty="0"/>
          </a:p>
        </p:txBody>
      </p:sp>
      <p:pic>
        <p:nvPicPr>
          <p:cNvPr id="4" name="Picture 3" descr="A mathematical calculation showing 0.86 times 100% equals 8.6%, with 9.96 written below.">
            <a:extLst>
              <a:ext uri="{FF2B5EF4-FFF2-40B4-BE49-F238E27FC236}">
                <a16:creationId xmlns:a16="http://schemas.microsoft.com/office/drawing/2014/main" id="{D2D52A18-7D5C-2840-035D-DF48953671A4}"/>
              </a:ext>
            </a:extLst>
          </p:cNvPr>
          <p:cNvPicPr>
            <a:picLocks noChangeAspect="1"/>
          </p:cNvPicPr>
          <p:nvPr/>
        </p:nvPicPr>
        <p:blipFill>
          <a:blip r:embed="rId2"/>
          <a:stretch>
            <a:fillRect/>
          </a:stretch>
        </p:blipFill>
        <p:spPr>
          <a:xfrm>
            <a:off x="4142093" y="3291270"/>
            <a:ext cx="2078895" cy="657298"/>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67AEEDC-4A0A-6FA6-FF3A-BA57982E9482}"/>
                  </a:ext>
                </a:extLst>
              </p:cNvPr>
              <p:cNvSpPr txBox="1"/>
              <p:nvPr/>
            </p:nvSpPr>
            <p:spPr>
              <a:xfrm>
                <a:off x="1166325" y="3948568"/>
                <a:ext cx="9918442" cy="2031325"/>
              </a:xfrm>
              <a:prstGeom prst="rect">
                <a:avLst/>
              </a:prstGeom>
              <a:noFill/>
            </p:spPr>
            <p:txBody>
              <a:bodyPr wrap="square">
                <a:spAutoFit/>
              </a:bodyPr>
              <a:lstStyle/>
              <a:p>
                <a:endParaRPr lang="en-US" dirty="0"/>
              </a:p>
              <a:p>
                <a:r>
                  <a:rPr lang="en-US" dirty="0"/>
                  <a:t>5. Compare your measurement to the generally accepted value of </a:t>
                </a:r>
                <a14:m>
                  <m:oMath xmlns:m="http://schemas.openxmlformats.org/officeDocument/2006/math">
                    <m:r>
                      <a:rPr lang="en-US" i="1" dirty="0" smtClean="0">
                        <a:latin typeface="Cambria Math" panose="02040503050406030204" pitchFamily="18" charset="0"/>
                      </a:rPr>
                      <m:t>𝑔</m:t>
                    </m:r>
                    <m:r>
                      <a:rPr lang="en-US" i="1" dirty="0" smtClean="0">
                        <a:latin typeface="Cambria Math" panose="02040503050406030204" pitchFamily="18" charset="0"/>
                      </a:rPr>
                      <m:t> (9.80 </m:t>
                    </m:r>
                    <m:r>
                      <a:rPr lang="en-US" i="1" dirty="0" smtClean="0">
                        <a:latin typeface="Cambria Math" panose="02040503050406030204" pitchFamily="18" charset="0"/>
                      </a:rPr>
                      <m:t>𝑚</m:t>
                    </m:r>
                    <m:r>
                      <a:rPr lang="en-US" i="1" dirty="0" smtClean="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𝑠</m:t>
                        </m:r>
                      </m:e>
                      <m:sup>
                        <m:r>
                          <a:rPr lang="en-US" i="1" dirty="0">
                            <a:latin typeface="Cambria Math" panose="02040503050406030204" pitchFamily="18" charset="0"/>
                          </a:rPr>
                          <m:t>2</m:t>
                        </m:r>
                      </m:sup>
                    </m:sSup>
                    <m:r>
                      <a:rPr lang="en-US" i="1" dirty="0">
                        <a:latin typeface="Cambria Math" panose="02040503050406030204" pitchFamily="18" charset="0"/>
                      </a:rPr>
                      <m:t> </m:t>
                    </m:r>
                    <m:r>
                      <a:rPr lang="en-US" i="1" dirty="0" smtClean="0">
                        <a:latin typeface="Cambria Math" panose="02040503050406030204" pitchFamily="18" charset="0"/>
                      </a:rPr>
                      <m:t>).</m:t>
                    </m:r>
                  </m:oMath>
                </a14:m>
                <a:endParaRPr lang="en-US" dirty="0"/>
              </a:p>
              <a:p>
                <a:r>
                  <a:rPr lang="en-US" dirty="0"/>
                  <a:t>Range (from data table i.e., smallest value to largest value):_________________________</a:t>
                </a:r>
              </a:p>
              <a:p>
                <a:endParaRPr lang="en-US" dirty="0"/>
              </a:p>
              <a:p>
                <a:endParaRPr lang="en-US" dirty="0"/>
              </a:p>
              <a:p>
                <a:r>
                  <a:rPr lang="en-US" dirty="0"/>
                  <a:t>Does the accepted value fall within the range of your values?____________________________</a:t>
                </a:r>
              </a:p>
              <a:p>
                <a:r>
                  <a:rPr lang="en-US" dirty="0"/>
                  <a:t>If so, your experiment agrees with the accepted value.</a:t>
                </a:r>
              </a:p>
            </p:txBody>
          </p:sp>
        </mc:Choice>
        <mc:Fallback xmlns="">
          <p:sp>
            <p:nvSpPr>
              <p:cNvPr id="6" name="TextBox 5">
                <a:extLst>
                  <a:ext uri="{FF2B5EF4-FFF2-40B4-BE49-F238E27FC236}">
                    <a16:creationId xmlns:a16="http://schemas.microsoft.com/office/drawing/2014/main" id="{667AEEDC-4A0A-6FA6-FF3A-BA57982E9482}"/>
                  </a:ext>
                </a:extLst>
              </p:cNvPr>
              <p:cNvSpPr txBox="1">
                <a:spLocks noAdjustHandles="1" noChangeArrowheads="1" noChangeAspect="1" noChangeShapeType="1" noEditPoints="1" noMove="1" noResize="1" noRot="1" noTextEdit="1"/>
              </p:cNvSpPr>
              <p:nvPr/>
            </p:nvSpPr>
            <p:spPr>
              <a:xfrm>
                <a:off x="1166325" y="3948568"/>
                <a:ext cx="9918442" cy="2031325"/>
              </a:xfrm>
              <a:prstGeom prst="rect">
                <a:avLst/>
              </a:prstGeom>
              <a:blipFill>
                <a:blip r:embed="rId4"/>
                <a:stretch>
                  <a:fillRect b="-3604" l="-492"/>
                </a:stretch>
              </a:blipFill>
            </p:spPr>
            <p:txBody>
              <a:bodyPr/>
              <a:lstStyle/>
              <a:p>
                <a:r>
                  <a:rPr lang="en-US">
                    <a:noFill/>
                  </a:rPr>
                  <a:t> </a:t>
                </a:r>
              </a:p>
            </p:txBody>
          </p:sp>
        </mc:Fallback>
      </mc:AlternateContent>
      <p:graphicFrame>
        <p:nvGraphicFramePr>
          <p:cNvPr id="8" name="Table 7">
            <a:extLst>
              <a:ext uri="{FF2B5EF4-FFF2-40B4-BE49-F238E27FC236}">
                <a16:creationId xmlns:a16="http://schemas.microsoft.com/office/drawing/2014/main" id="{6A4EE816-1BBB-EB13-073A-F6D1787A3C0A}"/>
              </a:ext>
            </a:extLst>
          </p:cNvPr>
          <p:cNvGraphicFramePr>
            <a:graphicFrameLocks noGrp="1"/>
          </p:cNvGraphicFramePr>
          <p:nvPr>
            <p:extLst>
              <p:ext uri="{D42A27DB-BD31-4B8C-83A1-F6EECF244321}">
                <p14:modId xmlns:p14="http://schemas.microsoft.com/office/powerpoint/2010/main" val="3563779566"/>
              </p:ext>
            </p:extLst>
          </p:nvPr>
        </p:nvGraphicFramePr>
        <p:xfrm>
          <a:off x="1807515" y="1047482"/>
          <a:ext cx="4669155" cy="821055"/>
        </p:xfrm>
        <a:graphic>
          <a:graphicData uri="http://schemas.openxmlformats.org/drawingml/2006/table">
            <a:tbl>
              <a:tblPr firstRow="1"/>
              <a:tblGrid>
                <a:gridCol w="2840355">
                  <a:extLst>
                    <a:ext uri="{9D8B030D-6E8A-4147-A177-3AD203B41FA5}">
                      <a16:colId xmlns:a16="http://schemas.microsoft.com/office/drawing/2014/main" val="2977639157"/>
                    </a:ext>
                  </a:extLst>
                </a:gridCol>
                <a:gridCol w="1828800">
                  <a:extLst>
                    <a:ext uri="{9D8B030D-6E8A-4147-A177-3AD203B41FA5}">
                      <a16:colId xmlns:a16="http://schemas.microsoft.com/office/drawing/2014/main" val="1077728524"/>
                    </a:ext>
                  </a:extLst>
                </a:gridCol>
              </a:tblGrid>
              <a:tr h="455295">
                <a:tc>
                  <a:txBody>
                    <a:bodyPr/>
                    <a:lstStyle/>
                    <a:p>
                      <a:pPr marL="91440" marR="0" hangingPunct="0">
                        <a:lnSpc>
                          <a:spcPts val="1200"/>
                        </a:lnSpc>
                        <a:spcBef>
                          <a:spcPts val="0"/>
                        </a:spcBef>
                        <a:spcAft>
                          <a:spcPts val="0"/>
                        </a:spcAft>
                        <a:tabLst>
                          <a:tab pos="1657350" algn="l"/>
                          <a:tab pos="3200400" algn="l"/>
                          <a:tab pos="4572000" algn="l"/>
                        </a:tabLst>
                      </a:pPr>
                      <a:r>
                        <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Acceleration due to gravity, </a:t>
                      </a:r>
                      <a:r>
                        <a:rPr lang="en-US" sz="1200" i="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 marR="0" hangingPunct="0">
                        <a:lnSpc>
                          <a:spcPts val="1200"/>
                        </a:lnSpc>
                        <a:spcBef>
                          <a:spcPts val="0"/>
                        </a:spcBef>
                        <a:spcAft>
                          <a:spcPts val="0"/>
                        </a:spcAft>
                        <a:tabLst>
                          <a:tab pos="1657350" algn="l"/>
                          <a:tab pos="3200400" algn="l"/>
                          <a:tab pos="4572000" algn="l"/>
                        </a:tabLst>
                      </a:pPr>
                      <a:r>
                        <a:rPr lang="en-US" sz="1200" u="sng"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uncertainty [See 4(c) on next pg.]</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hangingPunct="0">
                        <a:lnSpc>
                          <a:spcPts val="1000"/>
                        </a:lnSpc>
                        <a:spcBef>
                          <a:spcPts val="700"/>
                        </a:spcBef>
                        <a:spcAft>
                          <a:spcPts val="0"/>
                        </a:spcAft>
                        <a:tabLst>
                          <a:tab pos="1657350" algn="l"/>
                          <a:tab pos="3200400" algn="l"/>
                          <a:tab pos="4572000" algn="l"/>
                        </a:tabLst>
                      </a:pPr>
                      <a:r>
                        <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    )   </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6820300"/>
                  </a:ext>
                </a:extLst>
              </a:tr>
              <a:tr h="365760">
                <a:tc>
                  <a:txBody>
                    <a:bodyPr/>
                    <a:lstStyle/>
                    <a:p>
                      <a:pPr marL="91440" marR="0" hangingPunct="0">
                        <a:lnSpc>
                          <a:spcPts val="1200"/>
                        </a:lnSpc>
                        <a:spcBef>
                          <a:spcPts val="0"/>
                        </a:spcBef>
                        <a:spcAft>
                          <a:spcPts val="0"/>
                        </a:spcAft>
                        <a:tabLst>
                          <a:tab pos="1657350" algn="l"/>
                          <a:tab pos="3200400" algn="l"/>
                          <a:tab pos="4572000" algn="l"/>
                        </a:tabLst>
                      </a:pPr>
                      <a:r>
                        <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Precision [See 4(e) on next pg.]</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r" hangingPunct="0">
                        <a:lnSpc>
                          <a:spcPts val="1000"/>
                        </a:lnSpc>
                        <a:spcBef>
                          <a:spcPts val="700"/>
                        </a:spcBef>
                        <a:spcAft>
                          <a:spcPts val="0"/>
                        </a:spcAft>
                        <a:tabLst>
                          <a:tab pos="1657350" algn="l"/>
                          <a:tab pos="3200400" algn="l"/>
                          <a:tab pos="4572000" algn="l"/>
                        </a:tabLst>
                      </a:pPr>
                      <a:r>
                        <a:rPr lang="en-US" sz="12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200" kern="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97471722"/>
                  </a:ext>
                </a:extLst>
              </a:tr>
            </a:tbl>
          </a:graphicData>
        </a:graphic>
      </p:graphicFrame>
      <p:sp>
        <p:nvSpPr>
          <p:cNvPr id="9" name="Rectangle 2">
            <a:extLst>
              <a:ext uri="{FF2B5EF4-FFF2-40B4-BE49-F238E27FC236}">
                <a16:creationId xmlns:a16="http://schemas.microsoft.com/office/drawing/2014/main" id="{B68998D8-589E-F475-FAD3-46FA0DBB141D}"/>
              </a:ext>
            </a:extLst>
          </p:cNvPr>
          <p:cNvSpPr>
            <a:spLocks noChangeArrowheads="1"/>
          </p:cNvSpPr>
          <p:nvPr/>
        </p:nvSpPr>
        <p:spPr bwMode="auto">
          <a:xfrm>
            <a:off x="1807515" y="198257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The uncertainty is: ____________________________________</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34232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0C5B3-0E67-8710-C5A0-0D4D70FC079C}"/>
              </a:ext>
            </a:extLst>
          </p:cNvPr>
          <p:cNvSpPr>
            <a:spLocks noGrp="1"/>
          </p:cNvSpPr>
          <p:nvPr>
            <p:ph type="title"/>
          </p:nvPr>
        </p:nvSpPr>
        <p:spPr>
          <a:xfrm>
            <a:off x="677334" y="449634"/>
            <a:ext cx="8596668" cy="734008"/>
          </a:xfrm>
        </p:spPr>
        <p:txBody>
          <a:bodyPr/>
          <a:lstStyle/>
          <a:p>
            <a:r>
              <a:rPr lang="en-US" dirty="0">
                <a:solidFill>
                  <a:srgbClr val="1391BC"/>
                </a:solidFill>
              </a:rPr>
              <a:t>Analysis</a:t>
            </a:r>
            <a:r>
              <a:rPr lang="en-US">
                <a:solidFill>
                  <a:srgbClr val="1391BC"/>
                </a:solidFill>
              </a:rPr>
              <a:t>, Cont.</a:t>
            </a:r>
            <a:endParaRPr lang="en-US" dirty="0"/>
          </a:p>
        </p:txBody>
      </p:sp>
      <p:sp>
        <p:nvSpPr>
          <p:cNvPr id="3" name="Content Placeholder 2">
            <a:extLst>
              <a:ext uri="{FF2B5EF4-FFF2-40B4-BE49-F238E27FC236}">
                <a16:creationId xmlns:a16="http://schemas.microsoft.com/office/drawing/2014/main" id="{886AE788-5916-FD82-F40D-AF65511BB0F0}"/>
              </a:ext>
            </a:extLst>
          </p:cNvPr>
          <p:cNvSpPr>
            <a:spLocks noGrp="1"/>
          </p:cNvSpPr>
          <p:nvPr>
            <p:ph idx="1"/>
          </p:nvPr>
        </p:nvSpPr>
        <p:spPr>
          <a:xfrm>
            <a:off x="677334" y="1330165"/>
            <a:ext cx="8596668" cy="4520129"/>
          </a:xfrm>
        </p:spPr>
        <p:txBody>
          <a:bodyPr/>
          <a:lstStyle/>
          <a:p>
            <a:pPr marL="0" indent="0">
              <a:buNone/>
            </a:pPr>
            <a:r>
              <a:rPr lang="en-US" dirty="0"/>
              <a:t>6.	Inspect your velocity graph. How would the associated acceleration vs. time graph look? Sketch your prediction.</a:t>
            </a:r>
          </a:p>
          <a:p>
            <a:pPr marL="0" indent="0">
              <a:buNone/>
            </a:pPr>
            <a:r>
              <a:rPr lang="en-US" dirty="0"/>
              <a:t>7.	Now change the upper graph to acceleration vs. time. Do this by clicking on the y-axis label. Select Acceleration. Comment on any differences. You may want to rescale the graph so that the acceleration axis begins at zero.</a:t>
            </a:r>
          </a:p>
          <a:p>
            <a:pPr marL="0" indent="0">
              <a:buNone/>
            </a:pPr>
            <a:r>
              <a:rPr lang="en-US" dirty="0"/>
              <a:t>8.	</a:t>
            </a:r>
          </a:p>
          <a:p>
            <a:pPr marL="0" indent="0">
              <a:buNone/>
            </a:pPr>
            <a:r>
              <a:rPr lang="en-US" dirty="0"/>
              <a:t>	a.	Describe one random error encountered in this lab. State explicitly why 	it is a random error.</a:t>
            </a:r>
          </a:p>
          <a:p>
            <a:pPr marL="0" indent="0">
              <a:buNone/>
            </a:pPr>
            <a:r>
              <a:rPr lang="en-US" dirty="0"/>
              <a:t>	b.	Describe one systematic error encountered in this lab. State explicitly 	why it is a systematic error.</a:t>
            </a:r>
          </a:p>
          <a:p>
            <a:pPr marL="0" indent="0">
              <a:buNone/>
            </a:pPr>
            <a:endParaRPr lang="en-US" dirty="0"/>
          </a:p>
        </p:txBody>
      </p:sp>
    </p:spTree>
    <p:extLst>
      <p:ext uri="{BB962C8B-B14F-4D97-AF65-F5344CB8AC3E}">
        <p14:creationId xmlns:p14="http://schemas.microsoft.com/office/powerpoint/2010/main" val="317562242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1F712DCF4E89E4CBCEEA755EF81E88A" ma:contentTypeVersion="14" ma:contentTypeDescription="Create a new document." ma:contentTypeScope="" ma:versionID="320b06b9f9ec334549f95c39935f75f4">
  <xsd:schema xmlns:xsd="http://www.w3.org/2001/XMLSchema" xmlns:xs="http://www.w3.org/2001/XMLSchema" xmlns:p="http://schemas.microsoft.com/office/2006/metadata/properties" xmlns:ns3="4a651b0c-7ca9-450b-9469-de02b14c7408" xmlns:ns4="f6a62fc0-733e-42ba-a4be-6c891c8a1bad" targetNamespace="http://schemas.microsoft.com/office/2006/metadata/properties" ma:root="true" ma:fieldsID="fe10c24339d7c470f32f716063de2098" ns3:_="" ns4:_="">
    <xsd:import namespace="4a651b0c-7ca9-450b-9469-de02b14c7408"/>
    <xsd:import namespace="f6a62fc0-733e-42ba-a4be-6c891c8a1ba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AutoKeyPoints" minOccurs="0"/>
                <xsd:element ref="ns4:MediaServiceKeyPoints" minOccurs="0"/>
                <xsd:element ref="ns4:MediaServiceOCR" minOccurs="0"/>
                <xsd:element ref="ns4:MediaServiceGenerationTime" minOccurs="0"/>
                <xsd:element ref="ns4:MediaServiceEventHashCode" minOccurs="0"/>
                <xsd:element ref="ns4:MediaServiceDateTaken" minOccurs="0"/>
                <xsd:element ref="ns4:MediaServiceLocation"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651b0c-7ca9-450b-9469-de02b14c7408"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a62fc0-733e-42ba-a4be-6c891c8a1bad"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446552-B557-46B8-BEC4-D4B459FF8DDC}">
  <ds:schemaRefs>
    <ds:schemaRef ds:uri="http://schemas.microsoft.com/office/2006/metadata/properties"/>
    <ds:schemaRef ds:uri="http://purl.org/dc/dcmitype/"/>
    <ds:schemaRef ds:uri="http://purl.org/dc/elements/1.1/"/>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f6a62fc0-733e-42ba-a4be-6c891c8a1bad"/>
    <ds:schemaRef ds:uri="4a651b0c-7ca9-450b-9469-de02b14c7408"/>
    <ds:schemaRef ds:uri="http://www.w3.org/XML/1998/namespace"/>
  </ds:schemaRefs>
</ds:datastoreItem>
</file>

<file path=customXml/itemProps2.xml><?xml version="1.0" encoding="utf-8"?>
<ds:datastoreItem xmlns:ds="http://schemas.openxmlformats.org/officeDocument/2006/customXml" ds:itemID="{6AB93822-2944-4290-B4C6-D777A931F92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a651b0c-7ca9-450b-9469-de02b14c7408"/>
    <ds:schemaRef ds:uri="f6a62fc0-733e-42ba-a4be-6c891c8a1ba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225624F-0EAC-4094-AA61-F8B3C677E67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14789</TotalTime>
  <Words>1434</Words>
  <Application>Microsoft Office PowerPoint</Application>
  <PresentationFormat>Widescreen</PresentationFormat>
  <Paragraphs>96</Paragraphs>
  <Slides>13</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1" baseType="lpstr">
      <vt:lpstr>Arial</vt:lpstr>
      <vt:lpstr>Calibri</vt:lpstr>
      <vt:lpstr>Cambria Math</vt:lpstr>
      <vt:lpstr>Times New Roman</vt:lpstr>
      <vt:lpstr>Trebuchet MS</vt:lpstr>
      <vt:lpstr>Wingdings 3</vt:lpstr>
      <vt:lpstr>Facet</vt:lpstr>
      <vt:lpstr>Document</vt:lpstr>
      <vt:lpstr>Lab 6: Picket Fence Free Fall </vt:lpstr>
      <vt:lpstr>Introduction</vt:lpstr>
      <vt:lpstr>Introduction, Cont.</vt:lpstr>
      <vt:lpstr>Introduction, Continued</vt:lpstr>
      <vt:lpstr>Objective</vt:lpstr>
      <vt:lpstr>Picket Fence</vt:lpstr>
      <vt:lpstr>Preliminary questions</vt:lpstr>
      <vt:lpstr>Procedure</vt:lpstr>
      <vt:lpstr>Procedure, Cont</vt:lpstr>
      <vt:lpstr>Analysis</vt:lpstr>
      <vt:lpstr>Analysis, Cont</vt:lpstr>
      <vt:lpstr>Analysis, Continued.</vt:lpstr>
      <vt:lpstr>Analysis,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Patrick Hearin</dc:creator>
  <cp:lastModifiedBy>Tyrone Clinton</cp:lastModifiedBy>
  <cp:revision>100</cp:revision>
  <dcterms:created xsi:type="dcterms:W3CDTF">2015-03-02T04:15:14Z</dcterms:created>
  <dcterms:modified xsi:type="dcterms:W3CDTF">2026-02-13T01:19:34Z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0x01010071F712DCF4E89E4CBCEEA755EF81E88A</vt:lpwstr>
  </property>
  <property fmtid="{D5CDD505-2E9C-101B-9397-08002B2CF9AE}" pid="3" name="ReadingOrderVerifiedPages">
    <vt:lpwstr>8,9,10,12</vt:lpwstr>
  </property>
</Properties>
</file>