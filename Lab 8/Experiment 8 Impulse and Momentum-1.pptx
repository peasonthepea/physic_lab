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318" r:id="rId6"/>
    <p:sldId id="311" r:id="rId7"/>
    <p:sldId id="326" r:id="rId8"/>
    <p:sldId id="327" r:id="rId9"/>
    <p:sldId id="328" r:id="rId10"/>
    <p:sldId id="329" r:id="rId11"/>
    <p:sldId id="330" r:id="rId12"/>
    <p:sldId id="331" r:id="rId13"/>
    <p:sldId id="332" r:id="rId14"/>
    <p:sldId id="333" r:id="rId15"/>
    <p:sldId id="334" r:id="rId16"/>
    <p:sldId id="33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02" autoAdjust="0"/>
    <p:restoredTop sz="94673" autoAdjust="0"/>
  </p:normalViewPr>
  <p:slideViewPr>
    <p:cSldViewPr snapToGrid="0">
      <p:cViewPr varScale="1">
        <p:scale>
          <a:sx n="105" d="100"/>
          <a:sy n="105" d="100"/>
        </p:scale>
        <p:origin x="426" y="12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2/23/2026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wm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package" Target="../embeddings/Microsoft_Word_Document.docx"/><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package" Target="../embeddings/Microsoft_Word_Document1.docx"/></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3223" y="482816"/>
            <a:ext cx="9274629" cy="1646302"/>
          </a:xfrm>
        </p:spPr>
        <p:txBody>
          <a:bodyPr/>
          <a:lstStyle/>
          <a:p>
            <a:r>
              <a:rPr lang="en-US" sz="4800" dirty="0"/>
              <a:t>Lab 8:Impulse and Momentum </a:t>
            </a:r>
          </a:p>
        </p:txBody>
      </p:sp>
      <p:sp>
        <p:nvSpPr>
          <p:cNvPr id="3" name="Subtitle 2"/>
          <p:cNvSpPr>
            <a:spLocks noGrp="1"/>
          </p:cNvSpPr>
          <p:nvPr>
            <p:ph type="subTitle" idx="1"/>
          </p:nvPr>
        </p:nvSpPr>
        <p:spPr>
          <a:xfrm>
            <a:off x="1507067" y="2698286"/>
            <a:ext cx="7766936" cy="1096899"/>
          </a:xfrm>
        </p:spPr>
        <p:txBody>
          <a:bodyPr>
            <a:normAutofit/>
          </a:bodyPr>
          <a:lstStyle/>
          <a:p>
            <a:r>
              <a:rPr lang="en-US" dirty="0"/>
              <a:t>St. Petersburg College</a:t>
            </a:r>
          </a:p>
          <a:p>
            <a:endParaRPr lang="en-US" dirty="0"/>
          </a:p>
        </p:txBody>
      </p:sp>
      <p:pic>
        <p:nvPicPr>
          <p:cNvPr id="4" name="Picture 3" descr="A circular logo of St. Petersburg College featuring a shield with a building and a torch, surrounded by the college name and the establishment year 19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500" fill="hold"/>
                                        <p:tgtEl>
                                          <p:spTgt spid="4"/>
                                        </p:tgtEl>
                                        <p:attrNameLst>
                                          <p:attrName>ppt_x</p:attrName>
                                        </p:attrNameLst>
                                      </p:cBhvr>
                                      <p:tavLst>
                                        <p:tav tm="0">
                                          <p:val>
                                            <p:strVal val="#ppt_x"/>
                                          </p:val>
                                        </p:tav>
                                        <p:tav tm="100000">
                                          <p:val>
                                            <p:strVal val="#ppt_x"/>
                                          </p:val>
                                        </p:tav>
                                      </p:tavLst>
                                    </p:anim>
                                    <p:anim calcmode="lin" valueType="num">
                                      <p:cBhvr additive="base">
                                        <p:cTn id="12" dur="2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8632" y="177281"/>
            <a:ext cx="8596668" cy="864637"/>
          </a:xfrm>
        </p:spPr>
        <p:txBody>
          <a:bodyPr/>
          <a:lstStyle/>
          <a:p>
            <a:r>
              <a:rPr lang="en-US" dirty="0">
                <a:solidFill>
                  <a:srgbClr val="1391BC"/>
                </a:solidFill>
              </a:rPr>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296955"/>
                <a:ext cx="8596668" cy="4951445"/>
              </a:xfrm>
            </p:spPr>
            <p:txBody>
              <a:bodyPr>
                <a:normAutofit fontScale="62500" lnSpcReduction="20000"/>
              </a:bodyPr>
              <a:lstStyle/>
              <a:p>
                <a:r>
                  <a:rPr lang="en-US" sz="4000" dirty="0"/>
                  <a:t>The impulse-momentum theorem relates impulse, </a:t>
                </a:r>
                <a14:m>
                  <m:oMath xmlns:m="http://schemas.openxmlformats.org/officeDocument/2006/math">
                    <m:acc>
                      <m:accPr>
                        <m:chr m:val="⃗"/>
                        <m:ctrlPr>
                          <a:rPr lang="en-US" sz="4000" i="1">
                            <a:latin typeface="Cambria Math" panose="02040503050406030204" pitchFamily="18" charset="0"/>
                          </a:rPr>
                        </m:ctrlPr>
                      </m:accPr>
                      <m:e>
                        <m:r>
                          <a:rPr lang="en-US" sz="4000" b="1" i="1">
                            <a:latin typeface="Cambria Math" panose="02040503050406030204" pitchFamily="18" charset="0"/>
                          </a:rPr>
                          <m:t>𝑱</m:t>
                        </m:r>
                      </m:e>
                    </m:acc>
                  </m:oMath>
                </a14:m>
                <a:r>
                  <a:rPr lang="en-US" sz="4000" dirty="0"/>
                  <a:t>, the average force applied to an object times the length of time the force is applied, and the change in momentum of the object:</a:t>
                </a:r>
              </a:p>
              <a:p>
                <a:pPr marL="0" indent="0">
                  <a:buNone/>
                </a:pPr>
                <a14:m>
                  <m:oMathPara xmlns:m="http://schemas.openxmlformats.org/officeDocument/2006/math">
                    <m:oMathParaPr>
                      <m:jc m:val="centerGroup"/>
                    </m:oMathParaPr>
                    <m:oMath xmlns:m="http://schemas.openxmlformats.org/officeDocument/2006/math">
                      <m:acc>
                        <m:accPr>
                          <m:chr m:val="⃗"/>
                          <m:ctrlPr>
                            <a:rPr lang="en-US" sz="4200" i="1">
                              <a:latin typeface="Cambria Math" panose="02040503050406030204" pitchFamily="18" charset="0"/>
                            </a:rPr>
                          </m:ctrlPr>
                        </m:accPr>
                        <m:e>
                          <m:r>
                            <a:rPr lang="en-US" sz="4200" b="1" i="1">
                              <a:latin typeface="Cambria Math" panose="02040503050406030204" pitchFamily="18" charset="0"/>
                            </a:rPr>
                            <m:t>𝑱</m:t>
                          </m:r>
                        </m:e>
                      </m:acc>
                      <m:r>
                        <a:rPr lang="en-US" sz="4200" b="0" i="1" smtClean="0">
                          <a:latin typeface="Cambria Math" panose="02040503050406030204" pitchFamily="18" charset="0"/>
                        </a:rPr>
                        <m:t>=</m:t>
                      </m:r>
                      <m:r>
                        <a:rPr lang="en-US" sz="4200" i="1">
                          <a:latin typeface="Cambria Math" panose="02040503050406030204" pitchFamily="18" charset="0"/>
                        </a:rPr>
                        <m:t>𝛥</m:t>
                      </m:r>
                      <m:acc>
                        <m:accPr>
                          <m:chr m:val="⃗"/>
                          <m:ctrlPr>
                            <a:rPr lang="en-US" sz="4200" i="1">
                              <a:latin typeface="Cambria Math" panose="02040503050406030204" pitchFamily="18" charset="0"/>
                            </a:rPr>
                          </m:ctrlPr>
                        </m:accPr>
                        <m:e>
                          <m:r>
                            <a:rPr lang="en-US" sz="4200" b="1" i="1">
                              <a:latin typeface="Cambria Math" panose="02040503050406030204" pitchFamily="18" charset="0"/>
                            </a:rPr>
                            <m:t>𝑷</m:t>
                          </m:r>
                        </m:e>
                      </m:acc>
                      <m:r>
                        <a:rPr lang="en-US" sz="4200" i="1">
                          <a:latin typeface="Cambria Math" panose="02040503050406030204" pitchFamily="18" charset="0"/>
                        </a:rPr>
                        <m:t>=</m:t>
                      </m:r>
                      <m:sSub>
                        <m:sSubPr>
                          <m:ctrlPr>
                            <a:rPr lang="en-US" sz="4200" i="1">
                              <a:latin typeface="Cambria Math" panose="02040503050406030204" pitchFamily="18" charset="0"/>
                            </a:rPr>
                          </m:ctrlPr>
                        </m:sSubPr>
                        <m:e>
                          <m:acc>
                            <m:accPr>
                              <m:chr m:val="⃗"/>
                              <m:ctrlPr>
                                <a:rPr lang="en-US" sz="4200" i="1">
                                  <a:latin typeface="Cambria Math" panose="02040503050406030204" pitchFamily="18" charset="0"/>
                                </a:rPr>
                              </m:ctrlPr>
                            </m:accPr>
                            <m:e>
                              <m:r>
                                <a:rPr lang="en-US" sz="4200" b="1" i="1">
                                  <a:latin typeface="Cambria Math" panose="02040503050406030204" pitchFamily="18" charset="0"/>
                                </a:rPr>
                                <m:t>𝑷</m:t>
                              </m:r>
                            </m:e>
                          </m:acc>
                        </m:e>
                        <m:sub>
                          <m:r>
                            <a:rPr lang="en-US" sz="4200" i="1">
                              <a:latin typeface="Cambria Math" panose="02040503050406030204" pitchFamily="18" charset="0"/>
                            </a:rPr>
                            <m:t>𝑓</m:t>
                          </m:r>
                        </m:sub>
                      </m:sSub>
                      <m:r>
                        <a:rPr lang="en-US" sz="4200" i="1">
                          <a:latin typeface="Cambria Math" panose="02040503050406030204" pitchFamily="18" charset="0"/>
                        </a:rPr>
                        <m:t>−</m:t>
                      </m:r>
                      <m:sSub>
                        <m:sSubPr>
                          <m:ctrlPr>
                            <a:rPr lang="en-US" sz="4200" i="1">
                              <a:latin typeface="Cambria Math" panose="02040503050406030204" pitchFamily="18" charset="0"/>
                            </a:rPr>
                          </m:ctrlPr>
                        </m:sSubPr>
                        <m:e>
                          <m:acc>
                            <m:accPr>
                              <m:chr m:val="⃗"/>
                              <m:ctrlPr>
                                <a:rPr lang="en-US" sz="4200" i="1">
                                  <a:latin typeface="Cambria Math" panose="02040503050406030204" pitchFamily="18" charset="0"/>
                                </a:rPr>
                              </m:ctrlPr>
                            </m:accPr>
                            <m:e>
                              <m:r>
                                <a:rPr lang="en-US" sz="4200" b="1" i="1">
                                  <a:latin typeface="Cambria Math" panose="02040503050406030204" pitchFamily="18" charset="0"/>
                                </a:rPr>
                                <m:t>𝑷</m:t>
                              </m:r>
                            </m:e>
                          </m:acc>
                        </m:e>
                        <m:sub>
                          <m:r>
                            <a:rPr lang="en-US" sz="4200" i="1">
                              <a:latin typeface="Cambria Math" panose="02040503050406030204" pitchFamily="18" charset="0"/>
                            </a:rPr>
                            <m:t>𝑖</m:t>
                          </m:r>
                        </m:sub>
                      </m:sSub>
                      <m:r>
                        <a:rPr lang="en-US" sz="4200" i="1">
                          <a:latin typeface="Cambria Math" panose="02040503050406030204" pitchFamily="18" charset="0"/>
                        </a:rPr>
                        <m:t>=</m:t>
                      </m:r>
                      <m:nary>
                        <m:naryPr>
                          <m:limLoc m:val="subSup"/>
                          <m:ctrlPr>
                            <a:rPr lang="en-US" sz="4200" i="1">
                              <a:latin typeface="Cambria Math" panose="02040503050406030204" pitchFamily="18" charset="0"/>
                            </a:rPr>
                          </m:ctrlPr>
                        </m:naryPr>
                        <m:sub>
                          <m:sSub>
                            <m:sSubPr>
                              <m:ctrlPr>
                                <a:rPr lang="en-US" sz="4200" i="1">
                                  <a:latin typeface="Cambria Math" panose="02040503050406030204" pitchFamily="18" charset="0"/>
                                </a:rPr>
                              </m:ctrlPr>
                            </m:sSubPr>
                            <m:e>
                              <m:r>
                                <a:rPr lang="en-US" sz="4200" i="1">
                                  <a:latin typeface="Cambria Math" panose="02040503050406030204" pitchFamily="18" charset="0"/>
                                </a:rPr>
                                <m:t>𝑡</m:t>
                              </m:r>
                            </m:e>
                            <m:sub>
                              <m:r>
                                <a:rPr lang="en-US" sz="4200" i="1">
                                  <a:latin typeface="Cambria Math" panose="02040503050406030204" pitchFamily="18" charset="0"/>
                                </a:rPr>
                                <m:t>𝑖</m:t>
                              </m:r>
                            </m:sub>
                          </m:sSub>
                        </m:sub>
                        <m:sup>
                          <m:sSub>
                            <m:sSubPr>
                              <m:ctrlPr>
                                <a:rPr lang="en-US" sz="4200" i="1">
                                  <a:latin typeface="Cambria Math" panose="02040503050406030204" pitchFamily="18" charset="0"/>
                                </a:rPr>
                              </m:ctrlPr>
                            </m:sSubPr>
                            <m:e>
                              <m:r>
                                <a:rPr lang="en-US" sz="4200" i="1">
                                  <a:latin typeface="Cambria Math" panose="02040503050406030204" pitchFamily="18" charset="0"/>
                                </a:rPr>
                                <m:t>𝑡</m:t>
                              </m:r>
                            </m:e>
                            <m:sub>
                              <m:r>
                                <a:rPr lang="en-US" sz="4200" i="1">
                                  <a:latin typeface="Cambria Math" panose="02040503050406030204" pitchFamily="18" charset="0"/>
                                </a:rPr>
                                <m:t>𝑓</m:t>
                              </m:r>
                            </m:sub>
                          </m:sSub>
                        </m:sup>
                        <m:e>
                          <m:acc>
                            <m:accPr>
                              <m:chr m:val="⃗"/>
                              <m:ctrlPr>
                                <a:rPr lang="en-US" sz="4200" i="1">
                                  <a:latin typeface="Cambria Math" panose="02040503050406030204" pitchFamily="18" charset="0"/>
                                </a:rPr>
                              </m:ctrlPr>
                            </m:accPr>
                            <m:e>
                              <m:r>
                                <a:rPr lang="en-US" sz="4200" b="1" i="1">
                                  <a:latin typeface="Cambria Math" panose="02040503050406030204" pitchFamily="18" charset="0"/>
                                </a:rPr>
                                <m:t>𝑭</m:t>
                              </m:r>
                            </m:e>
                          </m:acc>
                          <m:r>
                            <a:rPr lang="en-US" sz="4200" i="1">
                              <a:latin typeface="Cambria Math" panose="02040503050406030204" pitchFamily="18" charset="0"/>
                            </a:rPr>
                            <m:t> </m:t>
                          </m:r>
                          <m:r>
                            <a:rPr lang="en-US" sz="4200" i="1">
                              <a:latin typeface="Cambria Math" panose="02040503050406030204" pitchFamily="18" charset="0"/>
                            </a:rPr>
                            <m:t>𝑑𝑡</m:t>
                          </m:r>
                          <m:r>
                            <a:rPr lang="en-US" sz="4200" b="0" i="1" smtClean="0">
                              <a:latin typeface="Cambria Math" panose="02040503050406030204" pitchFamily="18" charset="0"/>
                            </a:rPr>
                            <m:t>=</m:t>
                          </m:r>
                          <m:sSub>
                            <m:sSubPr>
                              <m:ctrlPr>
                                <a:rPr lang="en-US" sz="4400" i="1">
                                  <a:latin typeface="Cambria Math" panose="02040503050406030204" pitchFamily="18" charset="0"/>
                                </a:rPr>
                              </m:ctrlPr>
                            </m:sSub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𝑭</m:t>
                                  </m:r>
                                </m:e>
                              </m:acc>
                            </m:e>
                            <m:sub>
                              <m:r>
                                <a:rPr lang="en-US" sz="4400" i="1">
                                  <a:latin typeface="Cambria Math" panose="02040503050406030204" pitchFamily="18" charset="0"/>
                                </a:rPr>
                                <m:t>𝑎𝑣𝑒</m:t>
                              </m:r>
                            </m:sub>
                          </m:sSub>
                          <m:r>
                            <a:rPr lang="en-US" sz="4400" i="1">
                              <a:latin typeface="Cambria Math" panose="02040503050406030204" pitchFamily="18" charset="0"/>
                            </a:rPr>
                            <m:t>𝛥</m:t>
                          </m:r>
                          <m:r>
                            <a:rPr lang="en-US" sz="4400" i="1">
                              <a:latin typeface="Cambria Math" panose="02040503050406030204" pitchFamily="18" charset="0"/>
                            </a:rPr>
                            <m:t>𝑡</m:t>
                          </m:r>
                        </m:e>
                      </m:nary>
                    </m:oMath>
                  </m:oMathPara>
                </a14:m>
                <a:endParaRPr lang="en-US" sz="9300" dirty="0"/>
              </a:p>
              <a:p>
                <a:r>
                  <a:rPr lang="en-US" sz="4000" dirty="0"/>
                  <a:t>Here we will only consider motion and forces along a single line. The average force,</a:t>
                </a:r>
                <a14:m>
                  <m:oMath xmlns:m="http://schemas.openxmlformats.org/officeDocument/2006/math">
                    <m:r>
                      <a:rPr lang="en-US" sz="4000" i="1" dirty="0" smtClean="0">
                        <a:latin typeface="Cambria Math" panose="02040503050406030204" pitchFamily="18" charset="0"/>
                      </a:rPr>
                      <m:t> </m:t>
                    </m:r>
                    <m:r>
                      <a:rPr lang="en-US" sz="4000" b="0" i="1" dirty="0" smtClean="0">
                        <a:latin typeface="Cambria Math" panose="02040503050406030204" pitchFamily="18" charset="0"/>
                      </a:rPr>
                      <m:t> </m:t>
                    </m:r>
                    <m:sSub>
                      <m:sSubPr>
                        <m:ctrlPr>
                          <a:rPr lang="en-US" sz="4000" i="1" dirty="0" smtClean="0">
                            <a:latin typeface="Cambria Math" panose="02040503050406030204" pitchFamily="18" charset="0"/>
                          </a:rPr>
                        </m:ctrlPr>
                      </m:sSubPr>
                      <m:e>
                        <m:r>
                          <a:rPr lang="en-US" sz="4000" b="0" i="1" dirty="0" smtClean="0">
                            <a:latin typeface="Cambria Math" panose="02040503050406030204" pitchFamily="18" charset="0"/>
                          </a:rPr>
                          <m:t>𝐹</m:t>
                        </m:r>
                      </m:e>
                      <m:sub>
                        <m:r>
                          <a:rPr lang="en-US" sz="4000" b="0" i="1" dirty="0" smtClean="0">
                            <a:latin typeface="Cambria Math" panose="02040503050406030204" pitchFamily="18" charset="0"/>
                          </a:rPr>
                          <m:t>𝑎𝑣𝑒</m:t>
                        </m:r>
                      </m:sub>
                    </m:sSub>
                  </m:oMath>
                </a14:m>
                <a:r>
                  <a:rPr lang="en-US" sz="4000" dirty="0"/>
                  <a:t>, is the net force on the object, but in the case where one force dominates all others it is sufficient to use only the large force in calculations and analysis.</a:t>
                </a:r>
              </a:p>
              <a:p>
                <a:pPr marL="0" indent="0">
                  <a:buNone/>
                </a:pPr>
                <a14:m>
                  <m:oMathPara xmlns:m="http://schemas.openxmlformats.org/officeDocument/2006/math">
                    <m:oMathParaPr>
                      <m:jc m:val="centerGroup"/>
                    </m:oMathParaPr>
                    <m:oMath xmlns:m="http://schemas.openxmlformats.org/officeDocument/2006/math">
                      <m:sSub>
                        <m:sSubPr>
                          <m:ctrlPr>
                            <a:rPr lang="en-US" sz="3800" i="1" dirty="0">
                              <a:latin typeface="Cambria Math" panose="02040503050406030204" pitchFamily="18" charset="0"/>
                            </a:rPr>
                          </m:ctrlPr>
                        </m:sSubPr>
                        <m:e>
                          <m:r>
                            <a:rPr lang="en-US" sz="3800" i="1" dirty="0">
                              <a:latin typeface="Cambria Math" panose="02040503050406030204" pitchFamily="18" charset="0"/>
                            </a:rPr>
                            <m:t>𝐹</m:t>
                          </m:r>
                        </m:e>
                        <m:sub>
                          <m:r>
                            <a:rPr lang="en-US" sz="3800" i="1" dirty="0">
                              <a:latin typeface="Cambria Math" panose="02040503050406030204" pitchFamily="18" charset="0"/>
                            </a:rPr>
                            <m:t>𝑎𝑣𝑒</m:t>
                          </m:r>
                        </m:sub>
                      </m:sSub>
                      <m:r>
                        <a:rPr lang="en-US" sz="3800" i="1">
                          <a:latin typeface="Cambria Math" panose="02040503050406030204" pitchFamily="18" charset="0"/>
                        </a:rPr>
                        <m:t>𝛥</m:t>
                      </m:r>
                      <m:r>
                        <a:rPr lang="en-US" sz="3800" i="1">
                          <a:latin typeface="Cambria Math" panose="02040503050406030204" pitchFamily="18" charset="0"/>
                        </a:rPr>
                        <m:t>𝑡</m:t>
                      </m:r>
                      <m:r>
                        <a:rPr lang="en-US" sz="3800" i="1">
                          <a:latin typeface="Cambria Math" panose="02040503050406030204" pitchFamily="18" charset="0"/>
                        </a:rPr>
                        <m:t>=</m:t>
                      </m:r>
                      <m:r>
                        <a:rPr lang="en-US" sz="3800" b="0" i="1" smtClean="0">
                          <a:latin typeface="Cambria Math" panose="02040503050406030204" pitchFamily="18" charset="0"/>
                        </a:rPr>
                        <m:t>𝑚</m:t>
                      </m:r>
                      <m:sSub>
                        <m:sSubPr>
                          <m:ctrlPr>
                            <a:rPr lang="en-US" sz="3800" i="1" smtClean="0">
                              <a:latin typeface="Cambria Math" panose="02040503050406030204" pitchFamily="18" charset="0"/>
                            </a:rPr>
                          </m:ctrlPr>
                        </m:sSubPr>
                        <m:e>
                          <m:r>
                            <a:rPr lang="en-US" sz="3800" b="0" i="1" smtClean="0">
                              <a:latin typeface="Cambria Math" panose="02040503050406030204" pitchFamily="18" charset="0"/>
                            </a:rPr>
                            <m:t>𝑣</m:t>
                          </m:r>
                        </m:e>
                        <m:sub>
                          <m:r>
                            <a:rPr lang="en-US" sz="3800" b="0" i="1" smtClean="0">
                              <a:latin typeface="Cambria Math" panose="02040503050406030204" pitchFamily="18" charset="0"/>
                            </a:rPr>
                            <m:t>𝑓</m:t>
                          </m:r>
                        </m:sub>
                      </m:sSub>
                      <m:r>
                        <a:rPr lang="en-US" sz="3800" b="0" i="1" smtClean="0">
                          <a:latin typeface="Cambria Math" panose="02040503050406030204" pitchFamily="18" charset="0"/>
                        </a:rPr>
                        <m:t>−</m:t>
                      </m:r>
                      <m:r>
                        <a:rPr lang="en-US" sz="3800" i="1">
                          <a:latin typeface="Cambria Math" panose="02040503050406030204" pitchFamily="18" charset="0"/>
                        </a:rPr>
                        <m:t>𝑚</m:t>
                      </m:r>
                      <m:sSub>
                        <m:sSubPr>
                          <m:ctrlPr>
                            <a:rPr lang="en-US" sz="3800" i="1">
                              <a:latin typeface="Cambria Math" panose="02040503050406030204" pitchFamily="18" charset="0"/>
                            </a:rPr>
                          </m:ctrlPr>
                        </m:sSubPr>
                        <m:e>
                          <m:r>
                            <a:rPr lang="en-US" sz="3800" i="1">
                              <a:latin typeface="Cambria Math" panose="02040503050406030204" pitchFamily="18" charset="0"/>
                            </a:rPr>
                            <m:t>𝑣</m:t>
                          </m:r>
                        </m:e>
                        <m:sub>
                          <m:r>
                            <a:rPr lang="en-US" sz="3800" b="0" i="1" smtClean="0">
                              <a:latin typeface="Cambria Math" panose="02040503050406030204" pitchFamily="18" charset="0"/>
                            </a:rPr>
                            <m:t>𝑖</m:t>
                          </m:r>
                        </m:sub>
                      </m:sSub>
                    </m:oMath>
                  </m:oMathPara>
                </a14:m>
                <a:endParaRPr lang="en-US" sz="3800" dirty="0"/>
              </a:p>
              <a:p>
                <a:pPr marL="0" indent="0">
                  <a:buNone/>
                </a:pPr>
                <a:endParaRPr lang="en-US" sz="4000" dirty="0"/>
              </a:p>
              <a:p>
                <a:endParaRPr lang="en-US" sz="4000" dirty="0"/>
              </a:p>
              <a:p>
                <a:endParaRPr lang="en-US" sz="4000" dirty="0"/>
              </a:p>
            </p:txBody>
          </p:sp>
        </mc:Choice>
        <mc:Fallback xmlns="">
          <p:sp>
            <p:nvSpPr>
              <p:cNvPr id="3" name="Content Placeholder 2"/>
              <p:cNvSpPr>
                <a:spLocks noAdjustHandles="1" noChangeArrowheads="1" noChangeAspect="1" noChangeShapeType="1" noEditPoints="1" noGrp="1" noMove="1" noResize="1" noRot="1" noTextEdit="1"/>
              </p:cNvSpPr>
              <p:nvPr>
                <p:ph idx="1"/>
              </p:nvPr>
            </p:nvSpPr>
            <p:spPr>
              <a:xfrm>
                <a:off x="677334" y="1296955"/>
                <a:ext cx="8596668" cy="4951445"/>
              </a:xfrm>
              <a:blipFill>
                <a:blip r:embed="rId2"/>
                <a:stretch>
                  <a:fillRect l="-638" r="-1986" t="-1847"/>
                </a:stretch>
              </a:blipFill>
            </p:spPr>
            <p:txBody>
              <a:bodyPr/>
              <a:lstStyle/>
              <a:p>
                <a:r>
                  <a:rPr lang="en-US">
                    <a:noFill/>
                  </a:rPr>
                  <a:t> </a:t>
                </a:r>
              </a:p>
            </p:txBody>
          </p:sp>
        </mc:Fallback>
      </mc:AlternateContent>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6686"/>
          </a:xfrm>
        </p:spPr>
        <p:txBody>
          <a:bodyPr/>
          <a:lstStyle/>
          <a:p>
            <a:r>
              <a:rPr lang="en-US" dirty="0">
                <a:solidFill>
                  <a:srgbClr val="1391BC"/>
                </a:solidFill>
              </a:rPr>
              <a:t>Introduction, </a:t>
            </a:r>
            <a:r>
              <a:rPr lang="en-US" dirty="0" err="1">
                <a:solidFill>
                  <a:srgbClr val="1391BC"/>
                </a:solidFill>
              </a:rPr>
              <a:t>Cont</a:t>
            </a:r>
            <a:endParaRPr lang="en-US" dirty="0"/>
          </a:p>
        </p:txBody>
      </p:sp>
      <p:sp>
        <p:nvSpPr>
          <p:cNvPr id="3" name="Content Placeholder 2"/>
          <p:cNvSpPr>
            <a:spLocks noGrp="1"/>
          </p:cNvSpPr>
          <p:nvPr>
            <p:ph idx="1"/>
          </p:nvPr>
        </p:nvSpPr>
        <p:spPr>
          <a:xfrm>
            <a:off x="677334" y="1455626"/>
            <a:ext cx="8596668" cy="4792774"/>
          </a:xfrm>
        </p:spPr>
        <p:txBody>
          <a:bodyPr>
            <a:normAutofit fontScale="47500" lnSpcReduction="20000"/>
          </a:bodyPr>
          <a:lstStyle/>
          <a:p>
            <a:r>
              <a:rPr lang="en-US" sz="4500" dirty="0"/>
              <a:t>For this experiment, a dynamics cart will roll along a level track. Its momentum will change as it reaches the end of an initially slack elastic tether cord, much like a horizontal bungee jump. The tether will stretch and apply an increasing force until the cart stops. The cart then changes direction, and the tether will soon go slack. The force applied by the cord is measured by a Force Sensor. The cart velocity throughout the motion is measured with a Motion Detector. Using Logger Pro to find the average force during a time interval, you can test the impulse-momentum theorem. </a:t>
            </a:r>
          </a:p>
          <a:p>
            <a:pPr marL="0" indent="0">
              <a:buNone/>
            </a:pPr>
            <a:r>
              <a:rPr lang="en-US" sz="6700" dirty="0">
                <a:solidFill>
                  <a:srgbClr val="1391BC"/>
                </a:solidFill>
              </a:rPr>
              <a:t>Objectives</a:t>
            </a:r>
          </a:p>
          <a:p>
            <a:pPr lvl="0" hangingPunct="0"/>
            <a:r>
              <a:rPr lang="en-US" sz="4500" dirty="0"/>
              <a:t>Measure a cart’s momentum change and compare to the impulse it receives.</a:t>
            </a:r>
          </a:p>
          <a:p>
            <a:pPr lvl="0" hangingPunct="0"/>
            <a:r>
              <a:rPr lang="en-US" sz="4500" dirty="0"/>
              <a:t>Compare average and peak forces in impulses.</a:t>
            </a:r>
          </a:p>
          <a:p>
            <a:pPr marL="0" indent="0">
              <a:buNone/>
            </a:pPr>
            <a:endParaRPr lang="en-US" sz="4000" dirty="0"/>
          </a:p>
        </p:txBody>
      </p:sp>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3BCB-DB7B-1E18-BDE1-81323824031B}"/>
              </a:ext>
            </a:extLst>
          </p:cNvPr>
          <p:cNvSpPr>
            <a:spLocks noGrp="1"/>
          </p:cNvSpPr>
          <p:nvPr>
            <p:ph type="title"/>
          </p:nvPr>
        </p:nvSpPr>
        <p:spPr>
          <a:xfrm>
            <a:off x="648175" y="86737"/>
            <a:ext cx="8596668" cy="734008"/>
          </a:xfrm>
        </p:spPr>
        <p:txBody>
          <a:bodyPr/>
          <a:lstStyle/>
          <a:p>
            <a:r>
              <a:rPr lang="en-US" dirty="0">
                <a:solidFill>
                  <a:srgbClr val="1391BC"/>
                </a:solidFill>
              </a:rPr>
              <a:t>Apparatus</a:t>
            </a:r>
          </a:p>
        </p:txBody>
      </p:sp>
      <p:graphicFrame>
        <p:nvGraphicFramePr>
          <p:cNvPr id="4" name="Content Placeholder 3">
            <a:extLst>
              <a:ext uri="{FF2B5EF4-FFF2-40B4-BE49-F238E27FC236}">
                <a16:creationId xmlns:a16="http://schemas.microsoft.com/office/drawing/2014/main" id="{CE3B28D4-D845-C5C4-5AE3-1BCC358A24E2}"/>
              </a:ext>
            </a:extLst>
          </p:cNvPr>
          <p:cNvGraphicFramePr>
            <a:graphicFrameLocks noGrp="1"/>
          </p:cNvGraphicFramePr>
          <p:nvPr>
            <p:ph idx="1"/>
            <p:extLst>
              <p:ext uri="{D42A27DB-BD31-4B8C-83A1-F6EECF244321}">
                <p14:modId xmlns:p14="http://schemas.microsoft.com/office/powerpoint/2010/main" val="54617142"/>
              </p:ext>
            </p:extLst>
          </p:nvPr>
        </p:nvGraphicFramePr>
        <p:xfrm>
          <a:off x="199655" y="828238"/>
          <a:ext cx="6529758" cy="2075945"/>
        </p:xfrm>
        <a:graphic>
          <a:graphicData uri="http://schemas.openxmlformats.org/drawingml/2006/table">
            <a:tbl>
              <a:tblPr firstRow="1"/>
              <a:tblGrid>
                <a:gridCol w="3212053">
                  <a:extLst>
                    <a:ext uri="{9D8B030D-6E8A-4147-A177-3AD203B41FA5}">
                      <a16:colId xmlns:a16="http://schemas.microsoft.com/office/drawing/2014/main" val="850195501"/>
                    </a:ext>
                  </a:extLst>
                </a:gridCol>
                <a:gridCol w="3317705">
                  <a:extLst>
                    <a:ext uri="{9D8B030D-6E8A-4147-A177-3AD203B41FA5}">
                      <a16:colId xmlns:a16="http://schemas.microsoft.com/office/drawing/2014/main" val="1693334878"/>
                    </a:ext>
                  </a:extLst>
                </a:gridCol>
              </a:tblGrid>
              <a:tr h="415189">
                <a:tc>
                  <a:txBody>
                    <a:bodyPr/>
                    <a:lstStyle/>
                    <a:p>
                      <a:pPr marL="0" marR="0" hangingPunct="0">
                        <a:lnSpc>
                          <a:spcPts val="1200"/>
                        </a:lnSpc>
                        <a:spcBef>
                          <a:spcPts val="0"/>
                        </a:spcBef>
                        <a:spcAft>
                          <a:spcPts val="0"/>
                        </a:spcAft>
                        <a:tabLst>
                          <a:tab pos="228600" algn="l"/>
                        </a:tabLst>
                      </a:pPr>
                      <a:r>
                        <a:rPr lang="en-US" sz="2000" dirty="0">
                          <a:solidFill>
                            <a:srgbClr val="1391BC"/>
                          </a:solidFill>
                        </a:rPr>
                        <a:t>Apparatus</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lnSpc>
                          <a:spcPts val="1200"/>
                        </a:lnSpc>
                        <a:spcBef>
                          <a:spcPts val="0"/>
                        </a:spcBef>
                        <a:spcAft>
                          <a:spcPts val="0"/>
                        </a:spcAft>
                        <a:tabLst>
                          <a:tab pos="228600" algn="l"/>
                        </a:tabLst>
                      </a:pP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487759"/>
                  </a:ext>
                </a:extLst>
              </a:tr>
              <a:tr h="415189">
                <a:tc>
                  <a:txBody>
                    <a:bodyPr/>
                    <a:lstStyle/>
                    <a:p>
                      <a:pPr marL="0" marR="0" hangingPunct="0">
                        <a:lnSpc>
                          <a:spcPts val="1200"/>
                        </a:lnSpc>
                        <a:spcBef>
                          <a:spcPts val="0"/>
                        </a:spcBef>
                        <a:spcAft>
                          <a:spcPts val="0"/>
                        </a:spcAft>
                        <a:tabLst>
                          <a:tab pos="228600" algn="l"/>
                        </a:tabLst>
                      </a:pPr>
                      <a:r>
                        <a:rPr lang="en-US" sz="2000">
                          <a:effectLst/>
                          <a:latin typeface="Times New Roman" panose="02020603050405020304" pitchFamily="18" charset="0"/>
                          <a:ea typeface="Times New Roman" panose="02020603050405020304" pitchFamily="18" charset="0"/>
                        </a:rPr>
                        <a:t>Computer with</a:t>
                      </a:r>
                      <a:r>
                        <a:rPr lang="en-US" sz="2000">
                          <a:solidFill>
                            <a:srgbClr val="000000"/>
                          </a:solidFill>
                          <a:effectLst/>
                          <a:latin typeface="Times New Roman" panose="02020603050405020304" pitchFamily="18" charset="0"/>
                          <a:ea typeface="Times New Roman" panose="02020603050405020304" pitchFamily="18" charset="0"/>
                        </a:rPr>
                        <a:t> Logger </a:t>
                      </a:r>
                      <a:r>
                        <a:rPr lang="en-US" sz="2000" i="1">
                          <a:solidFill>
                            <a:srgbClr val="000000"/>
                          </a:solidFill>
                          <a:effectLst/>
                          <a:latin typeface="Times New Roman" panose="02020603050405020304" pitchFamily="18" charset="0"/>
                          <a:ea typeface="Times New Roman" panose="02020603050405020304" pitchFamily="18" charset="0"/>
                        </a:rPr>
                        <a:t>Pro</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lnSpc>
                          <a:spcPts val="1200"/>
                        </a:lnSpc>
                        <a:spcBef>
                          <a:spcPts val="0"/>
                        </a:spcBef>
                        <a:spcAft>
                          <a:spcPts val="0"/>
                        </a:spcAft>
                        <a:tabLst>
                          <a:tab pos="228600" algn="l"/>
                        </a:tabLst>
                      </a:pPr>
                      <a:r>
                        <a:rPr lang="en-US" sz="2000">
                          <a:solidFill>
                            <a:srgbClr val="000000"/>
                          </a:solidFill>
                          <a:effectLst/>
                          <a:latin typeface="Times New Roman" panose="02020603050405020304" pitchFamily="18" charset="0"/>
                          <a:ea typeface="Times New Roman" panose="02020603050405020304" pitchFamily="18" charset="0"/>
                        </a:rPr>
                        <a:t>dynamics cart and track</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5591438"/>
                  </a:ext>
                </a:extLst>
              </a:tr>
              <a:tr h="415189">
                <a:tc>
                  <a:txBody>
                    <a:bodyPr/>
                    <a:lstStyle/>
                    <a:p>
                      <a:pPr marL="0" marR="0" hangingPunct="0">
                        <a:lnSpc>
                          <a:spcPts val="1200"/>
                        </a:lnSpc>
                        <a:spcBef>
                          <a:spcPts val="0"/>
                        </a:spcBef>
                        <a:spcAft>
                          <a:spcPts val="0"/>
                        </a:spcAft>
                        <a:tabLst>
                          <a:tab pos="228600" algn="l"/>
                        </a:tabLst>
                      </a:pPr>
                      <a:r>
                        <a:rPr lang="en-US" sz="2000">
                          <a:solidFill>
                            <a:srgbClr val="000000"/>
                          </a:solidFill>
                          <a:effectLst/>
                          <a:latin typeface="Times New Roman" panose="02020603050405020304" pitchFamily="18" charset="0"/>
                          <a:ea typeface="Times New Roman" panose="02020603050405020304" pitchFamily="18" charset="0"/>
                        </a:rPr>
                        <a:t>Lab Pro</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lnSpc>
                          <a:spcPts val="1200"/>
                        </a:lnSpc>
                        <a:spcBef>
                          <a:spcPts val="0"/>
                        </a:spcBef>
                        <a:spcAft>
                          <a:spcPts val="0"/>
                        </a:spcAft>
                        <a:tabLst>
                          <a:tab pos="228600" algn="l"/>
                        </a:tabLst>
                      </a:pPr>
                      <a:r>
                        <a:rPr lang="en-US" sz="2000" dirty="0">
                          <a:solidFill>
                            <a:srgbClr val="000000"/>
                          </a:solidFill>
                          <a:effectLst/>
                          <a:latin typeface="Times New Roman" panose="02020603050405020304" pitchFamily="18" charset="0"/>
                          <a:ea typeface="Times New Roman" panose="02020603050405020304" pitchFamily="18" charset="0"/>
                        </a:rPr>
                        <a:t>string</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1585375"/>
                  </a:ext>
                </a:extLst>
              </a:tr>
              <a:tr h="415189">
                <a:tc>
                  <a:txBody>
                    <a:bodyPr/>
                    <a:lstStyle/>
                    <a:p>
                      <a:pPr marL="0" marR="0" hangingPunct="0">
                        <a:lnSpc>
                          <a:spcPts val="1200"/>
                        </a:lnSpc>
                        <a:spcBef>
                          <a:spcPts val="0"/>
                        </a:spcBef>
                        <a:spcAft>
                          <a:spcPts val="0"/>
                        </a:spcAft>
                        <a:tabLst>
                          <a:tab pos="228600" algn="l"/>
                        </a:tabLst>
                      </a:pPr>
                      <a:r>
                        <a:rPr lang="en-US" sz="2000">
                          <a:solidFill>
                            <a:srgbClr val="000000"/>
                          </a:solidFill>
                          <a:effectLst/>
                          <a:latin typeface="Times New Roman" panose="02020603050405020304" pitchFamily="18" charset="0"/>
                          <a:ea typeface="Times New Roman" panose="02020603050405020304" pitchFamily="18" charset="0"/>
                        </a:rPr>
                        <a:t>Vernier Motion Detector</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lnSpc>
                          <a:spcPts val="1200"/>
                        </a:lnSpc>
                        <a:spcBef>
                          <a:spcPts val="0"/>
                        </a:spcBef>
                        <a:spcAft>
                          <a:spcPts val="0"/>
                        </a:spcAft>
                        <a:tabLst>
                          <a:tab pos="228600" algn="l"/>
                        </a:tabLst>
                      </a:pPr>
                      <a:r>
                        <a:rPr lang="en-US" sz="2000">
                          <a:solidFill>
                            <a:srgbClr val="000000"/>
                          </a:solidFill>
                          <a:effectLst/>
                          <a:latin typeface="Times New Roman" panose="02020603050405020304" pitchFamily="18" charset="0"/>
                          <a:ea typeface="Times New Roman" panose="02020603050405020304" pitchFamily="18" charset="0"/>
                        </a:rPr>
                        <a:t>elastic cords (2 different sizes)</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8611245"/>
                  </a:ext>
                </a:extLst>
              </a:tr>
              <a:tr h="415189">
                <a:tc>
                  <a:txBody>
                    <a:bodyPr/>
                    <a:lstStyle/>
                    <a:p>
                      <a:pPr marL="0" marR="0" hangingPunct="0">
                        <a:lnSpc>
                          <a:spcPts val="1200"/>
                        </a:lnSpc>
                        <a:spcBef>
                          <a:spcPts val="0"/>
                        </a:spcBef>
                        <a:spcAft>
                          <a:spcPts val="0"/>
                        </a:spcAft>
                        <a:tabLst>
                          <a:tab pos="228600" algn="l"/>
                        </a:tabLst>
                      </a:pPr>
                      <a:r>
                        <a:rPr lang="en-US" sz="2000" dirty="0">
                          <a:effectLst/>
                          <a:latin typeface="Times New Roman" panose="02020603050405020304" pitchFamily="18" charset="0"/>
                          <a:ea typeface="Times New Roman" panose="02020603050405020304" pitchFamily="18" charset="0"/>
                        </a:rPr>
                        <a:t>Vernier Force Sensor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lnSpc>
                          <a:spcPts val="1200"/>
                        </a:lnSpc>
                        <a:spcBef>
                          <a:spcPts val="0"/>
                        </a:spcBef>
                        <a:spcAft>
                          <a:spcPts val="0"/>
                        </a:spcAft>
                        <a:tabLst>
                          <a:tab pos="228600" algn="l"/>
                        </a:tabLst>
                      </a:pPr>
                      <a:r>
                        <a:rPr lang="en-US" sz="2000" dirty="0">
                          <a:solidFill>
                            <a:srgbClr val="000000"/>
                          </a:solidFill>
                          <a:effectLst/>
                          <a:latin typeface="Times New Roman" panose="02020603050405020304" pitchFamily="18"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6683886"/>
                  </a:ext>
                </a:extLst>
              </a:tr>
            </a:tbl>
          </a:graphicData>
        </a:graphic>
      </p:graphicFrame>
      <p:pic>
        <p:nvPicPr>
          <p:cNvPr id="3073" name="Picture 1"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DBA35DB0-9799-1189-2F8D-5D9693146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315" y="2645310"/>
            <a:ext cx="5884438" cy="17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1C824088-95C4-800E-8B6D-3DF51CDD2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7494" y="86737"/>
            <a:ext cx="5084851" cy="381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6E79A1A2-13C3-8147-D301-38B300DBF3CD}"/>
              </a:ext>
            </a:extLst>
          </p:cNvPr>
          <p:cNvPicPr>
            <a:picLocks noChangeAspect="1"/>
          </p:cNvPicPr>
          <p:nvPr/>
        </p:nvPicPr>
        <p:blipFill>
          <a:blip r:embed="rId4"/>
          <a:stretch>
            <a:fillRect/>
          </a:stretch>
        </p:blipFill>
        <p:spPr>
          <a:xfrm>
            <a:off x="2287212" y="4621480"/>
            <a:ext cx="6957631" cy="2149783"/>
          </a:xfrm>
          <a:prstGeom prst="rect">
            <a:avLst/>
          </a:prstGeom>
        </p:spPr>
      </p:pic>
    </p:spTree>
    <p:extLst>
      <p:ext uri="{BB962C8B-B14F-4D97-AF65-F5344CB8AC3E}">
        <p14:creationId xmlns:p14="http://schemas.microsoft.com/office/powerpoint/2010/main" val="2493411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2BACF-B5B4-F2E3-FC50-C9E5AB25A234}"/>
              </a:ext>
            </a:extLst>
          </p:cNvPr>
          <p:cNvSpPr>
            <a:spLocks noGrp="1"/>
          </p:cNvSpPr>
          <p:nvPr>
            <p:ph type="title"/>
          </p:nvPr>
        </p:nvSpPr>
        <p:spPr>
          <a:xfrm>
            <a:off x="677334" y="609600"/>
            <a:ext cx="8596668" cy="733425"/>
          </a:xfrm>
        </p:spPr>
        <p:txBody>
          <a:bodyPr/>
          <a:lstStyle/>
          <a:p>
            <a:r>
              <a:rPr lang="en-US" dirty="0">
                <a:solidFill>
                  <a:srgbClr val="1391BC"/>
                </a:solidFill>
              </a:rPr>
              <a:t>Preliminary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FA6DE5-A646-EEB7-62BF-AA6027E867CE}"/>
                  </a:ext>
                </a:extLst>
              </p:cNvPr>
              <p:cNvSpPr>
                <a:spLocks noGrp="1"/>
              </p:cNvSpPr>
              <p:nvPr>
                <p:ph idx="1"/>
              </p:nvPr>
            </p:nvSpPr>
            <p:spPr>
              <a:xfrm>
                <a:off x="677334" y="1604865"/>
                <a:ext cx="8596668" cy="4436497"/>
              </a:xfrm>
            </p:spPr>
            <p:txBody>
              <a:bodyPr/>
              <a:lstStyle/>
              <a:p>
                <a:pPr marL="0" indent="0">
                  <a:buNone/>
                </a:pPr>
                <a:r>
                  <a:rPr lang="en-US" sz="1800" dirty="0">
                    <a:solidFill>
                      <a:srgbClr val="000000"/>
                    </a:solidFill>
                    <a:effectLst/>
                    <a:ea typeface="Times New Roman" panose="02020603050405020304" pitchFamily="18" charset="0"/>
                  </a:rPr>
                  <a:t>1. In a car collision, the driver’s body must change speed from a high value to zero. This is true whether or not an airbag is used, so why use an airbag? How does it reduce injuries?</a:t>
                </a:r>
              </a:p>
              <a:p>
                <a:pPr marL="0" indent="0">
                  <a:buNone/>
                </a:pPr>
                <a:endParaRPr lang="en-US" sz="1800" dirty="0">
                  <a:solidFill>
                    <a:srgbClr val="000000"/>
                  </a:solidFill>
                  <a:effectLst/>
                  <a:ea typeface="Times New Roman" panose="02020603050405020304" pitchFamily="18" charset="0"/>
                </a:endParaRPr>
              </a:p>
              <a:p>
                <a:pPr marL="0" indent="0">
                  <a:buNone/>
                </a:pPr>
                <a:endParaRPr lang="en-US" dirty="0">
                  <a:solidFill>
                    <a:srgbClr val="000000"/>
                  </a:solidFill>
                  <a:ea typeface="Times New Roman" panose="02020603050405020304" pitchFamily="18" charset="0"/>
                </a:endParaRPr>
              </a:p>
              <a:p>
                <a:pPr marL="0" indent="0">
                  <a:buNone/>
                </a:pPr>
                <a:endParaRPr lang="en-US" sz="1800" dirty="0">
                  <a:solidFill>
                    <a:srgbClr val="000000"/>
                  </a:solidFill>
                  <a:effectLst/>
                  <a:ea typeface="Times New Roman" panose="02020603050405020304" pitchFamily="18" charset="0"/>
                </a:endParaRPr>
              </a:p>
              <a:p>
                <a:pPr marL="0" indent="0">
                  <a:buNone/>
                </a:pPr>
                <a:endParaRPr lang="en-US" dirty="0">
                  <a:solidFill>
                    <a:srgbClr val="000000"/>
                  </a:solidFill>
                  <a:ea typeface="Times New Roman" panose="02020603050405020304" pitchFamily="18" charset="0"/>
                </a:endParaRPr>
              </a:p>
              <a:p>
                <a:pPr marL="0" indent="0">
                  <a:buNone/>
                </a:pPr>
                <a:endParaRPr lang="en-US" sz="1800" dirty="0">
                  <a:solidFill>
                    <a:srgbClr val="000000"/>
                  </a:solidFill>
                  <a:effectLst/>
                  <a:ea typeface="Times New Roman" panose="02020603050405020304" pitchFamily="18" charset="0"/>
                </a:endParaRPr>
              </a:p>
              <a:p>
                <a:pPr marL="0" indent="0">
                  <a:buNone/>
                </a:pPr>
                <a:r>
                  <a:rPr lang="en-US" sz="1800" dirty="0">
                    <a:solidFill>
                      <a:srgbClr val="000000"/>
                    </a:solidFill>
                    <a:effectLst/>
                    <a:ea typeface="Times New Roman" panose="02020603050405020304" pitchFamily="18" charset="0"/>
                  </a:rPr>
                  <a:t>2. You want to close an open door by throwing either a </a:t>
                </a:r>
                <a14:m>
                  <m:oMath xmlns:m="http://schemas.openxmlformats.org/officeDocument/2006/math">
                    <m:r>
                      <a:rPr lang="en-US" sz="1800" i="1" dirty="0" smtClean="0">
                        <a:solidFill>
                          <a:srgbClr val="000000"/>
                        </a:solidFill>
                        <a:effectLst/>
                        <a:latin typeface="Cambria Math" panose="02040503050406030204" pitchFamily="18" charset="0"/>
                        <a:ea typeface="Times New Roman" panose="02020603050405020304" pitchFamily="18" charset="0"/>
                      </a:rPr>
                      <m:t>400 </m:t>
                    </m:r>
                    <m:r>
                      <a:rPr lang="en-US" sz="1800" i="1" dirty="0" smtClean="0">
                        <a:solidFill>
                          <a:srgbClr val="000000"/>
                        </a:solidFill>
                        <a:effectLst/>
                        <a:latin typeface="Cambria Math" panose="02040503050406030204" pitchFamily="18" charset="0"/>
                        <a:ea typeface="Times New Roman" panose="02020603050405020304" pitchFamily="18" charset="0"/>
                      </a:rPr>
                      <m:t>𝑔</m:t>
                    </m:r>
                    <m:r>
                      <a:rPr lang="en-US" sz="1800" i="1" dirty="0" smtClean="0">
                        <a:solidFill>
                          <a:srgbClr val="000000"/>
                        </a:solidFill>
                        <a:effectLst/>
                        <a:latin typeface="Cambria Math" panose="02040503050406030204" pitchFamily="18" charset="0"/>
                        <a:ea typeface="Times New Roman" panose="02020603050405020304" pitchFamily="18" charset="0"/>
                      </a:rPr>
                      <m:t> </m:t>
                    </m:r>
                  </m:oMath>
                </a14:m>
                <a:r>
                  <a:rPr lang="en-US" sz="1800" dirty="0">
                    <a:solidFill>
                      <a:srgbClr val="000000"/>
                    </a:solidFill>
                    <a:effectLst/>
                    <a:ea typeface="Times New Roman" panose="02020603050405020304" pitchFamily="18" charset="0"/>
                  </a:rPr>
                  <a:t>lump of clay or a </a:t>
                </a:r>
                <a14:m>
                  <m:oMath xmlns:m="http://schemas.openxmlformats.org/officeDocument/2006/math">
                    <m:r>
                      <a:rPr lang="en-US" sz="1800" i="1" dirty="0" smtClean="0">
                        <a:solidFill>
                          <a:srgbClr val="000000"/>
                        </a:solidFill>
                        <a:effectLst/>
                        <a:latin typeface="Cambria Math" panose="02040503050406030204" pitchFamily="18" charset="0"/>
                        <a:ea typeface="Times New Roman" panose="02020603050405020304" pitchFamily="18" charset="0"/>
                      </a:rPr>
                      <m:t>400 </m:t>
                    </m:r>
                    <m:r>
                      <a:rPr lang="en-US" sz="1800" i="1" dirty="0" smtClean="0">
                        <a:solidFill>
                          <a:srgbClr val="000000"/>
                        </a:solidFill>
                        <a:effectLst/>
                        <a:latin typeface="Cambria Math" panose="02040503050406030204" pitchFamily="18" charset="0"/>
                        <a:ea typeface="Times New Roman" panose="02020603050405020304" pitchFamily="18" charset="0"/>
                      </a:rPr>
                      <m:t>𝑔</m:t>
                    </m:r>
                    <m:r>
                      <a:rPr lang="en-US" sz="1800" i="1" dirty="0" smtClean="0">
                        <a:solidFill>
                          <a:srgbClr val="000000"/>
                        </a:solidFill>
                        <a:effectLst/>
                        <a:latin typeface="Cambria Math" panose="02040503050406030204" pitchFamily="18" charset="0"/>
                        <a:ea typeface="Times New Roman" panose="02020603050405020304" pitchFamily="18" charset="0"/>
                      </a:rPr>
                      <m:t> </m:t>
                    </m:r>
                  </m:oMath>
                </a14:m>
                <a:r>
                  <a:rPr lang="en-US" sz="1800" dirty="0">
                    <a:solidFill>
                      <a:srgbClr val="000000"/>
                    </a:solidFill>
                    <a:effectLst/>
                    <a:ea typeface="Times New Roman" panose="02020603050405020304" pitchFamily="18" charset="0"/>
                  </a:rPr>
                  <a:t>rubber ball toward it. You can throw either object with the same speed, but they are different in that the rubber ball bounces off the door while the clay just sticks to the door. Which projectile will apply the larger impulse to the door and be more likely to close it?</a:t>
                </a:r>
              </a:p>
              <a:p>
                <a:pPr marL="0" indent="0">
                  <a:buNone/>
                </a:pPr>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57FA6DE5-A646-EEB7-62BF-AA6027E867CE}"/>
                  </a:ext>
                </a:extLst>
              </p:cNvPr>
              <p:cNvSpPr>
                <a:spLocks noAdjustHandles="1" noChangeArrowheads="1" noChangeAspect="1" noChangeShapeType="1" noEditPoints="1" noGrp="1" noMove="1" noResize="1" noRot="1" noTextEdit="1"/>
              </p:cNvSpPr>
              <p:nvPr>
                <p:ph idx="1"/>
              </p:nvPr>
            </p:nvSpPr>
            <p:spPr>
              <a:xfrm>
                <a:off x="677334" y="1604865"/>
                <a:ext cx="8596668" cy="4436497"/>
              </a:xfrm>
              <a:blipFill>
                <a:blip r:embed="rId2"/>
                <a:stretch>
                  <a:fillRect b="-1648" l="-567" r="-426" t="-824"/>
                </a:stretch>
              </a:blipFill>
            </p:spPr>
            <p:txBody>
              <a:bodyPr/>
              <a:lstStyle/>
              <a:p>
                <a:r>
                  <a:rPr lang="en-US">
                    <a:noFill/>
                  </a:rPr>
                  <a:t> </a:t>
                </a:r>
              </a:p>
            </p:txBody>
          </p:sp>
        </mc:Fallback>
      </mc:AlternateContent>
    </p:spTree>
    <p:extLst>
      <p:ext uri="{BB962C8B-B14F-4D97-AF65-F5344CB8AC3E}">
        <p14:creationId xmlns:p14="http://schemas.microsoft.com/office/powerpoint/2010/main" val="2044144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32BD5-579D-2526-B8D5-913DBE4A7507}"/>
              </a:ext>
            </a:extLst>
          </p:cNvPr>
          <p:cNvSpPr>
            <a:spLocks noGrp="1"/>
          </p:cNvSpPr>
          <p:nvPr>
            <p:ph type="title"/>
          </p:nvPr>
        </p:nvSpPr>
        <p:spPr>
          <a:xfrm>
            <a:off x="677334" y="255037"/>
            <a:ext cx="8596668" cy="752669"/>
          </a:xfrm>
        </p:spPr>
        <p:txBody>
          <a:bodyPr/>
          <a:lstStyle/>
          <a:p>
            <a:r>
              <a:rPr lang="en-US" dirty="0">
                <a:solidFill>
                  <a:srgbClr val="1391BC"/>
                </a:solidFill>
              </a:rPr>
              <a:t>Procedure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F70B1B-7883-336B-1931-2DFFB3C05597}"/>
                  </a:ext>
                </a:extLst>
              </p:cNvPr>
              <p:cNvSpPr>
                <a:spLocks noGrp="1"/>
              </p:cNvSpPr>
              <p:nvPr>
                <p:ph idx="1"/>
              </p:nvPr>
            </p:nvSpPr>
            <p:spPr>
              <a:xfrm>
                <a:off x="677334" y="1007706"/>
                <a:ext cx="8596668" cy="5756988"/>
              </a:xfrm>
            </p:spPr>
            <p:txBody>
              <a:bodyPr>
                <a:normAutofit fontScale="92500" lnSpcReduction="10000"/>
              </a:bodyPr>
              <a:lstStyle/>
              <a:p>
                <a:pPr marL="0" indent="0">
                  <a:buNone/>
                </a:pPr>
                <a:r>
                  <a:rPr lang="en-US" dirty="0"/>
                  <a:t>1.	Measure the mass of your dynamics cart and record the value in the data table.</a:t>
                </a:r>
              </a:p>
              <a:p>
                <a:pPr marL="0" indent="0">
                  <a:buNone/>
                </a:pPr>
                <a:r>
                  <a:rPr lang="en-US" dirty="0"/>
                  <a:t>2.	Connect the Motion Detector to DIG/SONIC 1 of the interface. Connect the Force Sensor to Channel 1 of the interface. If your Force Sensor has a range switch, set it to </a:t>
                </a:r>
                <a14:m>
                  <m:oMath xmlns:m="http://schemas.openxmlformats.org/officeDocument/2006/math">
                    <m:r>
                      <a:rPr lang="en-US" i="1" dirty="0" smtClean="0">
                        <a:latin typeface="Cambria Math" panose="02040503050406030204" pitchFamily="18" charset="0"/>
                      </a:rPr>
                      <m:t>10 </m:t>
                    </m:r>
                    <m:r>
                      <a:rPr lang="en-US" i="1" dirty="0" smtClean="0">
                        <a:latin typeface="Cambria Math" panose="02040503050406030204" pitchFamily="18" charset="0"/>
                      </a:rPr>
                      <m:t>𝑁</m:t>
                    </m:r>
                  </m:oMath>
                </a14:m>
                <a:r>
                  <a:rPr lang="en-US" dirty="0"/>
                  <a:t>.</a:t>
                </a:r>
              </a:p>
              <a:p>
                <a:pPr marL="0" indent="0">
                  <a:buNone/>
                </a:pPr>
                <a:r>
                  <a:rPr lang="en-US" dirty="0"/>
                  <a:t>3.	</a:t>
                </a:r>
                <a:r>
                  <a:rPr lang="en-US" sz="1800" dirty="0">
                    <a:solidFill>
                      <a:schemeClr val="tx1"/>
                    </a:solidFill>
                    <a:cs typeface="Times New Roman" pitchFamily="18" charset="0"/>
                  </a:rPr>
                  <a:t> Look for Logger Pro on desktop and open. Then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file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open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physics with computer. </a:t>
                </a:r>
                <a:r>
                  <a:rPr lang="en-US" sz="1800">
                    <a:solidFill>
                      <a:schemeClr val="tx1"/>
                    </a:solidFill>
                    <a:cs typeface="Times New Roman" pitchFamily="18" charset="0"/>
                  </a:rPr>
                  <a:t>Next o</a:t>
                </a:r>
                <a:r>
                  <a:rPr lang="en-US"/>
                  <a:t>pen </a:t>
                </a:r>
                <a:r>
                  <a:rPr lang="en-US" dirty="0"/>
                  <a:t>the file “19 Impulse and Momentum” in the Physics with Vernier folder. Logger Pro will plot the cart’s position and velocity vs. time, as well as the force applied by the Force Sensor vs. time.</a:t>
                </a:r>
              </a:p>
              <a:p>
                <a:pPr marL="0" indent="0">
                  <a:buNone/>
                </a:pPr>
                <a:r>
                  <a:rPr lang="en-US" dirty="0"/>
                  <a:t>4.	Place the track on a level surface. Confirm that the track is level by placing the low-friction cart on the track and releasing it from rest. It should not roll. If necessary, adjust the track.</a:t>
                </a:r>
              </a:p>
              <a:p>
                <a:pPr marL="0" indent="0">
                  <a:buNone/>
                </a:pPr>
                <a:r>
                  <a:rPr lang="en-US" dirty="0"/>
                  <a:t>5.	Attach the elastic cord to the cart and then the cord to the string. Tie the string to the Force Sensor a short distance away. Choose a string length so that the cart can roll freely with the cord slack for most of the track length but be stopped by the cord before it reaches the end of the track. Clamp the Force Sensor so that the string and cord, when taut, are horizontal and in line with the cart’s motion. </a:t>
                </a:r>
              </a:p>
              <a:p>
                <a:pPr marL="0" indent="0">
                  <a:buNone/>
                </a:pPr>
                <a:r>
                  <a:rPr lang="en-US" dirty="0"/>
                  <a:t>6.	Place the Motion Detector beyond the other end of the track so that the detector has a clear view of the cart’s motion along the entire track length. When the cord is stretched to maximum extension the cart should not be closer than </a:t>
                </a:r>
                <a14:m>
                  <m:oMath xmlns:m="http://schemas.openxmlformats.org/officeDocument/2006/math">
                    <m:r>
                      <a:rPr lang="en-US" i="1" dirty="0" smtClean="0">
                        <a:latin typeface="Cambria Math" panose="02040503050406030204" pitchFamily="18" charset="0"/>
                      </a:rPr>
                      <m:t>0.4 </m:t>
                    </m:r>
                    <m:r>
                      <a:rPr lang="en-US" i="1" dirty="0" smtClean="0">
                        <a:latin typeface="Cambria Math" panose="02040503050406030204" pitchFamily="18" charset="0"/>
                      </a:rPr>
                      <m:t>𝑚</m:t>
                    </m:r>
                    <m:r>
                      <a:rPr lang="en-US" i="1" dirty="0" smtClean="0">
                        <a:latin typeface="Cambria Math" panose="02040503050406030204" pitchFamily="18" charset="0"/>
                      </a:rPr>
                      <m:t> </m:t>
                    </m:r>
                  </m:oMath>
                </a14:m>
                <a:r>
                  <a:rPr lang="en-US" dirty="0"/>
                  <a:t>to the detector.</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3F70B1B-7883-336B-1931-2DFFB3C05597}"/>
                  </a:ext>
                </a:extLst>
              </p:cNvPr>
              <p:cNvSpPr>
                <a:spLocks noAdjustHandles="1" noChangeArrowheads="1" noChangeAspect="1" noChangeShapeType="1" noEditPoints="1" noGrp="1" noMove="1" noResize="1" noRot="1" noTextEdit="1"/>
              </p:cNvSpPr>
              <p:nvPr>
                <p:ph idx="1"/>
              </p:nvPr>
            </p:nvSpPr>
            <p:spPr>
              <a:xfrm>
                <a:off x="677334" y="1007706"/>
                <a:ext cx="8596668" cy="5756988"/>
              </a:xfrm>
              <a:blipFill>
                <a:blip r:embed="rId2"/>
                <a:stretch>
                  <a:fillRect l="-426" r="-780" t="-741"/>
                </a:stretch>
              </a:blipFill>
            </p:spPr>
            <p:txBody>
              <a:bodyPr/>
              <a:lstStyle/>
              <a:p>
                <a:r>
                  <a:rPr lang="en-US">
                    <a:noFill/>
                  </a:rPr>
                  <a:t> </a:t>
                </a:r>
              </a:p>
            </p:txBody>
          </p:sp>
        </mc:Fallback>
      </mc:AlternateContent>
    </p:spTree>
    <p:extLst>
      <p:ext uri="{BB962C8B-B14F-4D97-AF65-F5344CB8AC3E}">
        <p14:creationId xmlns:p14="http://schemas.microsoft.com/office/powerpoint/2010/main" val="1090324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5868F-1217-3376-D99C-A6D9C8DCAED7}"/>
              </a:ext>
            </a:extLst>
          </p:cNvPr>
          <p:cNvSpPr>
            <a:spLocks noGrp="1"/>
          </p:cNvSpPr>
          <p:nvPr>
            <p:ph type="title"/>
          </p:nvPr>
        </p:nvSpPr>
        <p:spPr>
          <a:xfrm>
            <a:off x="677334" y="283028"/>
            <a:ext cx="8596668" cy="734008"/>
          </a:xfrm>
        </p:spPr>
        <p:txBody>
          <a:bodyPr/>
          <a:lstStyle/>
          <a:p>
            <a:r>
              <a:rPr lang="en-US" dirty="0">
                <a:solidFill>
                  <a:srgbClr val="1391BC"/>
                </a:solidFill>
              </a:rPr>
              <a:t>Procedure, </a:t>
            </a:r>
            <a:r>
              <a:rPr lang="en-US" dirty="0" err="1">
                <a:solidFill>
                  <a:srgbClr val="1391BC"/>
                </a:solidFill>
              </a:rPr>
              <a:t>Cont</a:t>
            </a:r>
            <a:endParaRPr lang="en-US" dirty="0"/>
          </a:p>
        </p:txBody>
      </p:sp>
      <p:sp>
        <p:nvSpPr>
          <p:cNvPr id="3" name="Content Placeholder 2">
            <a:extLst>
              <a:ext uri="{FF2B5EF4-FFF2-40B4-BE49-F238E27FC236}">
                <a16:creationId xmlns:a16="http://schemas.microsoft.com/office/drawing/2014/main" id="{A91EE7A2-4FC0-7179-E35A-7857BBB094F6}"/>
              </a:ext>
            </a:extLst>
          </p:cNvPr>
          <p:cNvSpPr>
            <a:spLocks noGrp="1"/>
          </p:cNvSpPr>
          <p:nvPr>
            <p:ph idx="1"/>
          </p:nvPr>
        </p:nvSpPr>
        <p:spPr>
          <a:xfrm>
            <a:off x="677334" y="1194318"/>
            <a:ext cx="8596668" cy="5598367"/>
          </a:xfrm>
        </p:spPr>
        <p:txBody>
          <a:bodyPr>
            <a:normAutofit fontScale="92500" lnSpcReduction="10000"/>
          </a:bodyPr>
          <a:lstStyle/>
          <a:p>
            <a:pPr marL="0" indent="0">
              <a:buNone/>
            </a:pPr>
            <a:r>
              <a:rPr lang="en-US" dirty="0"/>
              <a:t>7.	Click            , select Force Sensor and Motion Sensor from the list, and click       to zero them.</a:t>
            </a:r>
          </a:p>
          <a:p>
            <a:pPr marL="0" indent="0">
              <a:buNone/>
            </a:pPr>
            <a:r>
              <a:rPr lang="en-US" dirty="0"/>
              <a:t>8.	Practice releasing the cart, so it rolls toward the Motion Detector, bounces gently, and returns to your hand. The Force Sensor must not shift, and the cart must stay on the track. Arrange the cord and string so that when they are slack, they do not interfere with the cart motion. You may need to guide the string by hand but be sure that you do not apply any force to the cart or Force Sensor. Keep your hands away from between the cart and the Motion Detector. </a:t>
            </a:r>
          </a:p>
          <a:p>
            <a:pPr marL="0" indent="0">
              <a:buNone/>
            </a:pPr>
            <a:r>
              <a:rPr lang="en-US" dirty="0"/>
              <a:t>9.	   Click              to take data; roll the cart and confirm that the Motion Detector detects the cart throughout its travel. Inspect the force data. If the peak exceeds 10 N, then the applied force is too large. Roll the cart with a lower initial speed. If the velocity graph has a flat area when it crosses the time-axis, the Motion Detector was too close, and the run should be repeated.</a:t>
            </a:r>
          </a:p>
          <a:p>
            <a:pPr marL="0" indent="0">
              <a:buNone/>
            </a:pPr>
            <a:r>
              <a:rPr lang="en-US" dirty="0"/>
              <a:t>10.	Once you have made a run (see picture next slide) with good position, velocity, and force graphs, analyze your data. To test the impulse-momentum theorem, you need the velocity before and after the impulse. Choose an interval corresponding to a time when the elastic was initially relaxed, and the cart was moving at approximately constant speed away from the Force Sensor. Drag the mouse pointer across this interval. Click the Statistics button,       , and read the average velocity. Record this value for the initial velocity in your data table. Repeat the procedure after the collision. Record this value for the final velocity in your data table.</a:t>
            </a:r>
          </a:p>
          <a:p>
            <a:pPr marL="0" indent="0">
              <a:buNone/>
            </a:pPr>
            <a:endParaRPr lang="en-US" dirty="0"/>
          </a:p>
        </p:txBody>
      </p:sp>
      <p:pic>
        <p:nvPicPr>
          <p:cNvPr id="4" name="Picture 3"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84BC2DF9-EE75-0363-3658-D2FDED046183}"/>
              </a:ext>
            </a:extLst>
          </p:cNvPr>
          <p:cNvPicPr>
            <a:picLocks noChangeAspect="1"/>
          </p:cNvPicPr>
          <p:nvPr/>
        </p:nvPicPr>
        <p:blipFill>
          <a:blip r:embed="rId2"/>
          <a:stretch>
            <a:fillRect/>
          </a:stretch>
        </p:blipFill>
        <p:spPr>
          <a:xfrm>
            <a:off x="1776245" y="1254196"/>
            <a:ext cx="765376" cy="272134"/>
          </a:xfrm>
          <a:prstGeom prst="rect">
            <a:avLst/>
          </a:prstGeom>
        </p:spPr>
      </p:pic>
      <p:pic>
        <p:nvPicPr>
          <p:cNvPr id="5" name="Picture 4"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8E62CCC5-C796-14ED-6FD6-5FBE81E4B11D}"/>
              </a:ext>
            </a:extLst>
          </p:cNvPr>
          <p:cNvPicPr>
            <a:picLocks noChangeAspect="1"/>
          </p:cNvPicPr>
          <p:nvPr/>
        </p:nvPicPr>
        <p:blipFill>
          <a:blip r:embed="rId3"/>
          <a:stretch>
            <a:fillRect/>
          </a:stretch>
        </p:blipFill>
        <p:spPr>
          <a:xfrm>
            <a:off x="8550076" y="1203651"/>
            <a:ext cx="867908" cy="295458"/>
          </a:xfrm>
          <a:prstGeom prst="rect">
            <a:avLst/>
          </a:prstGeom>
        </p:spPr>
      </p:pic>
      <p:pic>
        <p:nvPicPr>
          <p:cNvPr id="6" name="Picture 5"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3654D8A7-EACE-72F3-6BAB-95027D61827F}"/>
              </a:ext>
            </a:extLst>
          </p:cNvPr>
          <p:cNvPicPr>
            <a:picLocks noChangeAspect="1"/>
          </p:cNvPicPr>
          <p:nvPr/>
        </p:nvPicPr>
        <p:blipFill>
          <a:blip r:embed="rId4"/>
          <a:stretch>
            <a:fillRect/>
          </a:stretch>
        </p:blipFill>
        <p:spPr>
          <a:xfrm>
            <a:off x="1916202" y="3320947"/>
            <a:ext cx="854989" cy="303996"/>
          </a:xfrm>
          <a:prstGeom prst="rect">
            <a:avLst/>
          </a:prstGeom>
        </p:spPr>
      </p:pic>
      <p:pic>
        <p:nvPicPr>
          <p:cNvPr id="7" name="Picture 6"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9F009E59-1617-6873-F564-9C456612D821}"/>
              </a:ext>
            </a:extLst>
          </p:cNvPr>
          <p:cNvPicPr>
            <a:picLocks noChangeAspect="1"/>
          </p:cNvPicPr>
          <p:nvPr/>
        </p:nvPicPr>
        <p:blipFill>
          <a:blip r:embed="rId5"/>
          <a:stretch>
            <a:fillRect/>
          </a:stretch>
        </p:blipFill>
        <p:spPr>
          <a:xfrm>
            <a:off x="4396282" y="5755435"/>
            <a:ext cx="290803" cy="290803"/>
          </a:xfrm>
          <a:prstGeom prst="rect">
            <a:avLst/>
          </a:prstGeom>
        </p:spPr>
      </p:pic>
    </p:spTree>
    <p:extLst>
      <p:ext uri="{BB962C8B-B14F-4D97-AF65-F5344CB8AC3E}">
        <p14:creationId xmlns:p14="http://schemas.microsoft.com/office/powerpoint/2010/main" val="153443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CB898-08E1-64E3-FE86-E19252E3959C}"/>
              </a:ext>
            </a:extLst>
          </p:cNvPr>
          <p:cNvSpPr>
            <a:spLocks noGrp="1"/>
          </p:cNvSpPr>
          <p:nvPr>
            <p:ph type="title"/>
          </p:nvPr>
        </p:nvSpPr>
        <p:spPr>
          <a:xfrm>
            <a:off x="602690" y="167951"/>
            <a:ext cx="8596668" cy="640702"/>
          </a:xfrm>
        </p:spPr>
        <p:txBody>
          <a:bodyPr/>
          <a:lstStyle/>
          <a:p>
            <a:r>
              <a:rPr lang="en-US" dirty="0">
                <a:solidFill>
                  <a:srgbClr val="1391BC"/>
                </a:solidFill>
              </a:rPr>
              <a:t>Procedure, Cont.</a:t>
            </a:r>
            <a:endParaRPr lang="en-US" dirty="0"/>
          </a:p>
        </p:txBody>
      </p:sp>
      <p:pic>
        <p:nvPicPr>
          <p:cNvPr id="4098" name="Picture 1" descr="A picture containing graphical user interface  ">
            <a:extLst>
              <a:ext uri="{FF2B5EF4-FFF2-40B4-BE49-F238E27FC236}">
                <a16:creationId xmlns:a16="http://schemas.microsoft.com/office/drawing/2014/main" id="{EEECD608-63E4-0536-EE7E-E9939939A2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829" t="9041" r="4610" b="9825"/>
          <a:stretch>
            <a:fillRect/>
          </a:stretch>
        </p:blipFill>
        <p:spPr bwMode="auto">
          <a:xfrm>
            <a:off x="535019" y="1237861"/>
            <a:ext cx="10147165" cy="534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717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D3110-5872-6676-185C-1760B8D5F02F}"/>
              </a:ext>
            </a:extLst>
          </p:cNvPr>
          <p:cNvSpPr>
            <a:spLocks noGrp="1"/>
          </p:cNvSpPr>
          <p:nvPr>
            <p:ph type="title"/>
          </p:nvPr>
        </p:nvSpPr>
        <p:spPr>
          <a:xfrm>
            <a:off x="677334" y="339012"/>
            <a:ext cx="8596668" cy="1320800"/>
          </a:xfrm>
        </p:spPr>
        <p:txBody>
          <a:bodyPr/>
          <a:lstStyle/>
          <a:p>
            <a:r>
              <a:rPr lang="en-US" dirty="0">
                <a:solidFill>
                  <a:srgbClr val="1391BC"/>
                </a:solidFill>
              </a:rPr>
              <a:t>Procedure, Cont.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7EF9E4-D3C7-96F4-3163-2F5DDD659F5F}"/>
                  </a:ext>
                </a:extLst>
              </p:cNvPr>
              <p:cNvSpPr>
                <a:spLocks noGrp="1"/>
              </p:cNvSpPr>
              <p:nvPr>
                <p:ph idx="1"/>
              </p:nvPr>
            </p:nvSpPr>
            <p:spPr>
              <a:xfrm>
                <a:off x="677334" y="1250303"/>
                <a:ext cx="8596668" cy="4833256"/>
              </a:xfrm>
            </p:spPr>
            <p:txBody>
              <a:bodyPr>
                <a:normAutofit/>
              </a:bodyPr>
              <a:lstStyle/>
              <a:p>
                <a:pPr marL="0" indent="0">
                  <a:buNone/>
                </a:pPr>
                <a:r>
                  <a:rPr lang="en-US" sz="2000" dirty="0"/>
                  <a:t>11.	Now record the time interval of the impulse. On the force vs. time graph, drag across the impulse, capturing the entire period when the force was non-zero. Find the average value of the force by clicking the Statistics button,     , and also read the length of the time interval over which your average force is calculated. The number of points used in the average divided by the data rate of </a:t>
                </a:r>
                <a14:m>
                  <m:oMath xmlns:m="http://schemas.openxmlformats.org/officeDocument/2006/math">
                    <m:r>
                      <a:rPr lang="en-US" sz="2000" i="1" dirty="0" smtClean="0">
                        <a:latin typeface="Cambria Math" panose="02040503050406030204" pitchFamily="18" charset="0"/>
                      </a:rPr>
                      <m:t>50 </m:t>
                    </m:r>
                    <m:r>
                      <a:rPr lang="en-US" sz="2000" i="1" dirty="0" smtClean="0">
                        <a:latin typeface="Cambria Math" panose="02040503050406030204" pitchFamily="18" charset="0"/>
                      </a:rPr>
                      <m:t>𝐻𝑧</m:t>
                    </m:r>
                    <m:r>
                      <a:rPr lang="en-US" sz="2000" i="1" dirty="0" smtClean="0">
                        <a:latin typeface="Cambria Math" panose="02040503050406030204" pitchFamily="18" charset="0"/>
                      </a:rPr>
                      <m:t> </m:t>
                    </m:r>
                  </m:oMath>
                </a14:m>
                <a:r>
                  <a:rPr lang="en-US" sz="2000" dirty="0"/>
                  <a:t>gives the time interval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𝑡</m:t>
                    </m:r>
                  </m:oMath>
                </a14:m>
                <a:r>
                  <a:rPr lang="en-US" sz="2000" dirty="0"/>
                  <a:t>. Record the values in your data table.</a:t>
                </a:r>
              </a:p>
              <a:p>
                <a:pPr marL="0" indent="0">
                  <a:buNone/>
                </a:pPr>
                <a:r>
                  <a:rPr lang="en-US" sz="2000" dirty="0"/>
                  <a:t>12.	Perform a second trial by repeating Steps 10 – 12, record the information in your data table.</a:t>
                </a:r>
              </a:p>
              <a:p>
                <a:pPr marL="0" indent="0">
                  <a:buNone/>
                </a:pPr>
                <a:r>
                  <a:rPr lang="en-US" sz="2000" dirty="0"/>
                  <a:t>13.	Change the elastic material attached to the cart. Use the new material (elastic band) provided.</a:t>
                </a:r>
              </a:p>
              <a:p>
                <a:pPr marL="0" indent="0">
                  <a:buNone/>
                </a:pPr>
                <a:r>
                  <a:rPr lang="en-US" sz="2000" dirty="0"/>
                  <a:t>14.	Repeat Steps 10 – 13, record the information in your data table.</a:t>
                </a:r>
              </a:p>
              <a:p>
                <a:endParaRPr lang="en-US" dirty="0"/>
              </a:p>
            </p:txBody>
          </p:sp>
        </mc:Choice>
        <mc:Fallback xmlns="">
          <p:sp>
            <p:nvSpPr>
              <p:cNvPr id="3" name="Content Placeholder 2">
                <a:extLst>
                  <a:ext uri="{FF2B5EF4-FFF2-40B4-BE49-F238E27FC236}">
                    <a16:creationId xmlns:a16="http://schemas.microsoft.com/office/drawing/2014/main" id="{367EF9E4-D3C7-96F4-3163-2F5DDD659F5F}"/>
                  </a:ext>
                </a:extLst>
              </p:cNvPr>
              <p:cNvSpPr>
                <a:spLocks noAdjustHandles="1" noChangeArrowheads="1" noChangeAspect="1" noChangeShapeType="1" noEditPoints="1" noGrp="1" noMove="1" noResize="1" noRot="1" noTextEdit="1"/>
              </p:cNvSpPr>
              <p:nvPr>
                <p:ph idx="1"/>
              </p:nvPr>
            </p:nvSpPr>
            <p:spPr>
              <a:xfrm>
                <a:off x="677334" y="1250303"/>
                <a:ext cx="8596668" cy="4833256"/>
              </a:xfrm>
              <a:blipFill>
                <a:blip r:embed="rId2"/>
                <a:stretch>
                  <a:fillRect l="-709" r="-709" t="-757"/>
                </a:stretch>
              </a:blipFill>
            </p:spPr>
            <p:txBody>
              <a:bodyPr/>
              <a:lstStyle/>
              <a:p>
                <a:r>
                  <a:rPr lang="en-US">
                    <a:noFill/>
                  </a:rPr>
                  <a:t> </a:t>
                </a:r>
              </a:p>
            </p:txBody>
          </p:sp>
        </mc:Fallback>
      </mc:AlternateContent>
      <p:pic>
        <p:nvPicPr>
          <p:cNvPr id="4" name="Picture 3"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A9BEC83A-DD3D-C5B6-51A6-72C2D76D12C6}"/>
              </a:ext>
            </a:extLst>
          </p:cNvPr>
          <p:cNvPicPr>
            <a:picLocks noChangeAspect="1"/>
          </p:cNvPicPr>
          <p:nvPr/>
        </p:nvPicPr>
        <p:blipFill>
          <a:blip r:embed="rId3"/>
          <a:stretch>
            <a:fillRect/>
          </a:stretch>
        </p:blipFill>
        <p:spPr>
          <a:xfrm>
            <a:off x="2799185" y="2183365"/>
            <a:ext cx="326572" cy="326572"/>
          </a:xfrm>
          <a:prstGeom prst="rect">
            <a:avLst/>
          </a:prstGeom>
        </p:spPr>
      </p:pic>
    </p:spTree>
    <p:extLst>
      <p:ext uri="{BB962C8B-B14F-4D97-AF65-F5344CB8AC3E}">
        <p14:creationId xmlns:p14="http://schemas.microsoft.com/office/powerpoint/2010/main" val="781213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A736-A570-C35B-DB75-7E8A04A779A0}"/>
              </a:ext>
            </a:extLst>
          </p:cNvPr>
          <p:cNvSpPr>
            <a:spLocks noGrp="1"/>
          </p:cNvSpPr>
          <p:nvPr>
            <p:ph type="title"/>
          </p:nvPr>
        </p:nvSpPr>
        <p:spPr>
          <a:xfrm>
            <a:off x="677334" y="453312"/>
            <a:ext cx="8596668" cy="771331"/>
          </a:xfrm>
        </p:spPr>
        <p:txBody>
          <a:bodyPr/>
          <a:lstStyle/>
          <a:p>
            <a:r>
              <a:rPr lang="en-US" dirty="0">
                <a:solidFill>
                  <a:srgbClr val="1391BC"/>
                </a:solidFill>
              </a:rPr>
              <a:t>Data Table</a:t>
            </a:r>
          </a:p>
        </p:txBody>
      </p:sp>
      <p:graphicFrame>
        <p:nvGraphicFramePr>
          <p:cNvPr id="7" name="Object 6" descr="mass of cart with parentheses">
            <a:extLst>
              <a:ext uri="{FF2B5EF4-FFF2-40B4-BE49-F238E27FC236}">
                <a16:creationId xmlns:a16="http://schemas.microsoft.com/office/drawing/2014/main" id="{E173822E-CCA0-357D-2893-D1967CE476F3}"/>
              </a:ext>
            </a:extLst>
          </p:cNvPr>
          <p:cNvGraphicFramePr>
            <a:graphicFrameLocks noChangeAspect="1"/>
          </p:cNvGraphicFramePr>
          <p:nvPr>
            <p:extLst>
              <p:ext uri="{D42A27DB-BD31-4B8C-83A1-F6EECF244321}">
                <p14:modId xmlns:p14="http://schemas.microsoft.com/office/powerpoint/2010/main" val="1060243570"/>
              </p:ext>
            </p:extLst>
          </p:nvPr>
        </p:nvGraphicFramePr>
        <p:xfrm>
          <a:off x="-322263" y="1157740"/>
          <a:ext cx="10269668" cy="615043"/>
        </p:xfrm>
        <a:graphic>
          <a:graphicData uri="http://schemas.openxmlformats.org/presentationml/2006/ole">
            <mc:AlternateContent xmlns:mc="http://schemas.openxmlformats.org/markup-compatibility/2006">
              <mc:Choice xmlns:v="urn:schemas-microsoft-com:vml" Requires="v">
                <p:oleObj name="Document" r:id="rId2" imgW="6308559" imgH="377623" progId="Word.Document.12">
                  <p:embed/>
                </p:oleObj>
              </mc:Choice>
              <mc:Fallback>
                <p:oleObj name="Document" r:id="rId2" imgW="6308559" imgH="377623" progId="Word.Document.12">
                  <p:embed/>
                  <p:pic>
                    <p:nvPicPr>
                      <p:cNvPr id="7" name="Object 6">
                        <a:extLst>
                          <a:ext uri="{FF2B5EF4-FFF2-40B4-BE49-F238E27FC236}">
                            <a16:creationId xmlns:a16="http://schemas.microsoft.com/office/drawing/2014/main" id="{E173822E-CCA0-357D-2893-D1967CE476F3}"/>
                          </a:ext>
                        </a:extLst>
                      </p:cNvPr>
                      <p:cNvPicPr/>
                      <p:nvPr/>
                    </p:nvPicPr>
                    <p:blipFill>
                      <a:blip r:embed="rId3"/>
                      <a:stretch>
                        <a:fillRect/>
                      </a:stretch>
                    </p:blipFill>
                    <p:spPr>
                      <a:xfrm>
                        <a:off x="-322263" y="1157740"/>
                        <a:ext cx="10269668" cy="615043"/>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44B1F44C-81FB-336E-4B7C-F778029D6B3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56583446"/>
              </p:ext>
            </p:extLst>
          </p:nvPr>
        </p:nvGraphicFramePr>
        <p:xfrm>
          <a:off x="-763588" y="2049463"/>
          <a:ext cx="10429876" cy="4752975"/>
        </p:xfrm>
        <a:graphic>
          <a:graphicData uri="http://schemas.openxmlformats.org/presentationml/2006/ole">
            <mc:AlternateContent xmlns:mc="http://schemas.openxmlformats.org/markup-compatibility/2006">
              <mc:Choice xmlns:v="urn:schemas-microsoft-com:vml" Requires="v">
                <p:oleObj name="Document" r:id="rId4" imgW="7127095" imgH="3247917" progId="Word.Document.12">
                  <p:embed/>
                </p:oleObj>
              </mc:Choice>
              <mc:Fallback>
                <p:oleObj name="Document" r:id="rId4" imgW="7127095" imgH="3247917" progId="Word.Document.12">
                  <p:embed/>
                  <p:pic>
                    <p:nvPicPr>
                      <p:cNvPr id="8" name="Object 7">
                        <a:extLst>
                          <a:ext uri="{FF2B5EF4-FFF2-40B4-BE49-F238E27FC236}">
                            <a16:creationId xmlns:a16="http://schemas.microsoft.com/office/drawing/2014/main" id="{44B1F44C-81FB-336E-4B7C-F778029D6B37}"/>
                          </a:ext>
                        </a:extLst>
                      </p:cNvPr>
                      <p:cNvPicPr/>
                      <p:nvPr/>
                    </p:nvPicPr>
                    <p:blipFill>
                      <a:blip r:embed="rId5"/>
                      <a:stretch>
                        <a:fillRect/>
                      </a:stretch>
                    </p:blipFill>
                    <p:spPr>
                      <a:xfrm>
                        <a:off x="-763588" y="2049463"/>
                        <a:ext cx="10429876" cy="4752975"/>
                      </a:xfrm>
                      <a:prstGeom prst="rect">
                        <a:avLst/>
                      </a:prstGeom>
                    </p:spPr>
                  </p:pic>
                </p:oleObj>
              </mc:Fallback>
            </mc:AlternateContent>
          </a:graphicData>
        </a:graphic>
      </p:graphicFrame>
    </p:spTree>
    <p:extLst>
      <p:ext uri="{BB962C8B-B14F-4D97-AF65-F5344CB8AC3E}">
        <p14:creationId xmlns:p14="http://schemas.microsoft.com/office/powerpoint/2010/main" val="3681276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68E57-6111-9E15-7524-FF7A79C04B9F}"/>
              </a:ext>
            </a:extLst>
          </p:cNvPr>
          <p:cNvSpPr>
            <a:spLocks noGrp="1"/>
          </p:cNvSpPr>
          <p:nvPr>
            <p:ph type="title"/>
          </p:nvPr>
        </p:nvSpPr>
        <p:spPr>
          <a:xfrm>
            <a:off x="677334" y="40434"/>
            <a:ext cx="8596668" cy="817984"/>
          </a:xfrm>
        </p:spPr>
        <p:txBody>
          <a:bodyPr/>
          <a:lstStyle/>
          <a:p>
            <a:r>
              <a:rPr lang="en-US" dirty="0">
                <a:solidFill>
                  <a:srgbClr val="1391BC"/>
                </a:solidFill>
              </a:rPr>
              <a:t>Summary and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BC777C-A965-B9A1-8C51-5F71EB6847DF}"/>
                  </a:ext>
                </a:extLst>
              </p:cNvPr>
              <p:cNvSpPr>
                <a:spLocks noGrp="1"/>
              </p:cNvSpPr>
              <p:nvPr>
                <p:ph idx="1"/>
              </p:nvPr>
            </p:nvSpPr>
            <p:spPr>
              <a:xfrm>
                <a:off x="139959" y="662476"/>
                <a:ext cx="10524929" cy="1660848"/>
              </a:xfrm>
            </p:spPr>
            <p:txBody>
              <a:bodyPr>
                <a:normAutofit/>
              </a:bodyPr>
              <a:lstStyle/>
              <a:p>
                <a:pPr marL="0" indent="0">
                  <a:buNone/>
                </a:pPr>
                <a:r>
                  <a:rPr lang="en-US" dirty="0"/>
                  <a:t>1.	From the average force and duration of impulse, determine:	Impulse</a:t>
                </a:r>
                <a14:m>
                  <m:oMath xmlns:m="http://schemas.openxmlformats.org/officeDocument/2006/math">
                    <m:r>
                      <a:rPr lang="en-US" i="1" dirty="0" smtClean="0">
                        <a:latin typeface="Cambria Math" panose="02040503050406030204" pitchFamily="18" charset="0"/>
                      </a:rPr>
                      <m:t> =</m:t>
                    </m:r>
                    <m:r>
                      <a:rPr lang="en-US" sz="1800" i="1" dirty="0" smtClean="0">
                        <a:latin typeface="Cambria Math" panose="02040503050406030204" pitchFamily="18" charset="0"/>
                      </a:rPr>
                      <m:t> </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𝐹</m:t>
                        </m:r>
                      </m:e>
                      <m:sub>
                        <m:r>
                          <a:rPr lang="en-US" sz="1800" i="1" dirty="0">
                            <a:latin typeface="Cambria Math" panose="02040503050406030204" pitchFamily="18" charset="0"/>
                          </a:rPr>
                          <m:t>𝑎𝑣𝑒</m:t>
                        </m:r>
                      </m:sub>
                    </m:sSub>
                    <m:r>
                      <a:rPr lang="en-US" sz="1800" i="1">
                        <a:latin typeface="Cambria Math" panose="02040503050406030204" pitchFamily="18" charset="0"/>
                      </a:rPr>
                      <m:t>𝛥</m:t>
                    </m:r>
                    <m:r>
                      <a:rPr lang="en-US" sz="1800" i="1">
                        <a:latin typeface="Cambria Math" panose="02040503050406030204" pitchFamily="18" charset="0"/>
                      </a:rPr>
                      <m:t>𝑡</m:t>
                    </m:r>
                    <m:r>
                      <a:rPr lang="en-US" sz="1800" i="1">
                        <a:latin typeface="Cambria Math" panose="02040503050406030204" pitchFamily="18" charset="0"/>
                      </a:rPr>
                      <m:t> </m:t>
                    </m:r>
                  </m:oMath>
                </a14:m>
                <a:endParaRPr lang="en-US" dirty="0"/>
              </a:p>
              <a:p>
                <a:pPr marL="0" indent="0">
                  <a:buNone/>
                </a:pPr>
                <a:r>
                  <a:rPr lang="en-US" dirty="0"/>
                  <a:t>2.	From the mass of the cart and change in velocity, determine: </a:t>
                </a:r>
              </a:p>
              <a:p>
                <a:pPr marL="0" indent="0" algn="ctr">
                  <a:buNone/>
                </a:pPr>
                <a:r>
                  <a:rPr lang="en-US" dirty="0"/>
                  <a:t>Change in momentum </a:t>
                </a:r>
                <a14:m>
                  <m:oMath xmlns:m="http://schemas.openxmlformats.org/officeDocument/2006/math">
                    <m:r>
                      <a:rPr lang="en-US" sz="1800" i="1" smtClean="0">
                        <a:latin typeface="Cambria Math" panose="02040503050406030204" pitchFamily="18" charset="0"/>
                      </a:rPr>
                      <m:t>=</m:t>
                    </m:r>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𝑝</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𝑚</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𝑓</m:t>
                        </m:r>
                      </m:sub>
                    </m:sSub>
                    <m:r>
                      <a:rPr lang="en-US" sz="1800" b="0" i="1" smtClean="0">
                        <a:latin typeface="Cambria Math" panose="02040503050406030204" pitchFamily="18" charset="0"/>
                      </a:rPr>
                      <m:t>−</m:t>
                    </m:r>
                    <m:r>
                      <a:rPr lang="en-US" sz="1800" i="1">
                        <a:latin typeface="Cambria Math" panose="02040503050406030204" pitchFamily="18" charset="0"/>
                      </a:rPr>
                      <m:t>𝑚</m:t>
                    </m:r>
                    <m:sSub>
                      <m:sSubPr>
                        <m:ctrlPr>
                          <a:rPr lang="en-US" sz="1800" i="1">
                            <a:latin typeface="Cambria Math" panose="02040503050406030204" pitchFamily="18" charset="0"/>
                          </a:rPr>
                        </m:ctrlPr>
                      </m:sSubPr>
                      <m:e>
                        <m:r>
                          <a:rPr lang="en-US" sz="1800" i="1">
                            <a:latin typeface="Cambria Math" panose="02040503050406030204" pitchFamily="18" charset="0"/>
                          </a:rPr>
                          <m:t>𝑣</m:t>
                        </m:r>
                      </m:e>
                      <m:sub>
                        <m:r>
                          <a:rPr lang="en-US" sz="1800" b="0" i="1" smtClean="0">
                            <a:latin typeface="Cambria Math" panose="02040503050406030204" pitchFamily="18" charset="0"/>
                          </a:rPr>
                          <m:t>𝑖</m:t>
                        </m:r>
                      </m:sub>
                    </m:sSub>
                  </m:oMath>
                </a14:m>
                <a:endParaRPr lang="en-US" dirty="0"/>
              </a:p>
              <a:p>
                <a:pPr marL="0" indent="0" algn="ctr">
                  <a:buNone/>
                </a:pPr>
                <a:r>
                  <a:rPr lang="en-US" b="1" dirty="0"/>
                  <a:t>Make these calculations for each trial and enter the values in the data table</a:t>
                </a:r>
              </a:p>
            </p:txBody>
          </p:sp>
        </mc:Choice>
        <mc:Fallback xmlns="">
          <p:sp>
            <p:nvSpPr>
              <p:cNvPr id="3" name="Content Placeholder 2">
                <a:extLst>
                  <a:ext uri="{FF2B5EF4-FFF2-40B4-BE49-F238E27FC236}">
                    <a16:creationId xmlns:a16="http://schemas.microsoft.com/office/drawing/2014/main" id="{BABC777C-A965-B9A1-8C51-5F71EB6847DF}"/>
                  </a:ext>
                </a:extLst>
              </p:cNvPr>
              <p:cNvSpPr>
                <a:spLocks noAdjustHandles="1" noChangeArrowheads="1" noChangeAspect="1" noChangeShapeType="1" noEditPoints="1" noGrp="1" noMove="1" noResize="1" noRot="1" noTextEdit="1"/>
              </p:cNvSpPr>
              <p:nvPr>
                <p:ph idx="1"/>
              </p:nvPr>
            </p:nvSpPr>
            <p:spPr>
              <a:xfrm>
                <a:off x="139959" y="662476"/>
                <a:ext cx="10524929" cy="1660848"/>
              </a:xfrm>
              <a:blipFill>
                <a:blip r:embed="rId2"/>
                <a:stretch>
                  <a:fillRect b="-1838" l="-521" t="-2574"/>
                </a:stretch>
              </a:blipFill>
            </p:spPr>
            <p:txBody>
              <a:bodyPr/>
              <a:lstStyle/>
              <a:p>
                <a:r>
                  <a:rPr lang="en-US">
                    <a:noFill/>
                  </a:rPr>
                  <a:t> </a:t>
                </a:r>
              </a:p>
            </p:txBody>
          </p:sp>
        </mc:Fallback>
      </mc:AlternateContent>
      <p:graphicFrame>
        <p:nvGraphicFramePr>
          <p:cNvPr id="4" name="Object 3">
            <a:extLst>
              <a:ext uri="{FF2B5EF4-FFF2-40B4-BE49-F238E27FC236}">
                <a16:creationId xmlns:a16="http://schemas.microsoft.com/office/drawing/2014/main" id="{BABE4C23-ED28-61F2-CD62-4A3EAEC1060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0085803"/>
              </p:ext>
            </p:extLst>
          </p:nvPr>
        </p:nvGraphicFramePr>
        <p:xfrm>
          <a:off x="1104900" y="2282825"/>
          <a:ext cx="9275763" cy="4908550"/>
        </p:xfrm>
        <a:graphic>
          <a:graphicData uri="http://schemas.openxmlformats.org/presentationml/2006/ole">
            <mc:AlternateContent xmlns:mc="http://schemas.openxmlformats.org/markup-compatibility/2006">
              <mc:Choice xmlns:v="urn:schemas-microsoft-com:vml" Requires="v">
                <p:oleObj name="Document" r:id="rId3" imgW="6281922" imgH="3330275" progId="Word.Document.12">
                  <p:embed/>
                </p:oleObj>
              </mc:Choice>
              <mc:Fallback>
                <p:oleObj name="Document" r:id="rId3" imgW="6281922" imgH="3330275" progId="Word.Document.12">
                  <p:embed/>
                  <p:pic>
                    <p:nvPicPr>
                      <p:cNvPr id="4" name="Object 3">
                        <a:extLst>
                          <a:ext uri="{FF2B5EF4-FFF2-40B4-BE49-F238E27FC236}">
                            <a16:creationId xmlns:a16="http://schemas.microsoft.com/office/drawing/2014/main" id="{BABE4C23-ED28-61F2-CD62-4A3EAEC10608}"/>
                          </a:ext>
                        </a:extLst>
                      </p:cNvPr>
                      <p:cNvPicPr/>
                      <p:nvPr/>
                    </p:nvPicPr>
                    <p:blipFill>
                      <a:blip r:embed="rId4"/>
                      <a:stretch>
                        <a:fillRect/>
                      </a:stretch>
                    </p:blipFill>
                    <p:spPr>
                      <a:xfrm>
                        <a:off x="1104900" y="2282825"/>
                        <a:ext cx="9275763" cy="4908550"/>
                      </a:xfrm>
                      <a:prstGeom prst="rect">
                        <a:avLst/>
                      </a:prstGeom>
                    </p:spPr>
                  </p:pic>
                </p:oleObj>
              </mc:Fallback>
            </mc:AlternateContent>
          </a:graphicData>
        </a:graphic>
      </p:graphicFrame>
    </p:spTree>
    <p:extLst>
      <p:ext uri="{BB962C8B-B14F-4D97-AF65-F5344CB8AC3E}">
        <p14:creationId xmlns:p14="http://schemas.microsoft.com/office/powerpoint/2010/main" val="2109363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1A5B-EBF4-6D75-47E2-F2BB6EC81331}"/>
              </a:ext>
            </a:extLst>
          </p:cNvPr>
          <p:cNvSpPr>
            <a:spLocks noGrp="1"/>
          </p:cNvSpPr>
          <p:nvPr>
            <p:ph type="title"/>
          </p:nvPr>
        </p:nvSpPr>
        <p:spPr>
          <a:xfrm>
            <a:off x="677334" y="609600"/>
            <a:ext cx="8596668" cy="696686"/>
          </a:xfrm>
        </p:spPr>
        <p:txBody>
          <a:bodyPr/>
          <a:lstStyle/>
          <a:p>
            <a:r>
              <a:rPr lang="en-US" dirty="0">
                <a:solidFill>
                  <a:srgbClr val="1391BC"/>
                </a:solidFill>
              </a:rPr>
              <a:t>Summary and Analysis, </a:t>
            </a:r>
            <a:r>
              <a:rPr lang="en-US" dirty="0" err="1">
                <a:solidFill>
                  <a:srgbClr val="1391BC"/>
                </a:solidFill>
              </a:rPr>
              <a:t>Cont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1C8157-8764-3EB4-3DE6-5AE727908D58}"/>
                  </a:ext>
                </a:extLst>
              </p:cNvPr>
              <p:cNvSpPr>
                <a:spLocks noGrp="1"/>
              </p:cNvSpPr>
              <p:nvPr>
                <p:ph idx="1"/>
              </p:nvPr>
            </p:nvSpPr>
            <p:spPr>
              <a:xfrm>
                <a:off x="677333" y="1488613"/>
                <a:ext cx="8942527" cy="5201436"/>
              </a:xfrm>
            </p:spPr>
            <p:txBody>
              <a:bodyPr>
                <a:normAutofit/>
              </a:bodyPr>
              <a:lstStyle/>
              <a:p>
                <a:pPr marL="0" indent="0">
                  <a:buNone/>
                </a:pPr>
                <a:r>
                  <a:rPr lang="en-US" sz="2000" dirty="0"/>
                  <a:t>3.	If the impulse-momentum theorem is correct, the change in momentum will equal the impulse for each trial. Experimental measurement errors, along with friction and shifting of the track or Force Sensor, will keep the two from being exactly the same. One way to compare the two is to find their percentage difference using:</a:t>
                </a:r>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Where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1</m:t>
                        </m:r>
                      </m:sub>
                    </m:sSub>
                    <m:r>
                      <a:rPr lang="en-US" sz="2000" i="1" dirty="0" smtClean="0">
                        <a:latin typeface="Cambria Math" panose="02040503050406030204" pitchFamily="18" charset="0"/>
                      </a:rPr>
                      <m:t> = </m:t>
                    </m:r>
                  </m:oMath>
                </a14:m>
                <a:r>
                  <a:rPr lang="en-US" sz="2000" dirty="0"/>
                  <a:t>impulse </a:t>
                </a:r>
                <a14:m>
                  <m:oMath xmlns:m="http://schemas.openxmlformats.org/officeDocument/2006/math">
                    <m:r>
                      <a:rPr lang="en-US" sz="2000" i="1" dirty="0">
                        <a:latin typeface="Cambria Math" panose="02040503050406030204" pitchFamily="18" charset="0"/>
                      </a:rPr>
                      <m:t>=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𝐹</m:t>
                        </m:r>
                      </m:e>
                      <m:sub>
                        <m:r>
                          <a:rPr lang="en-US" sz="2000" i="1" dirty="0">
                            <a:latin typeface="Cambria Math" panose="02040503050406030204" pitchFamily="18" charset="0"/>
                          </a:rPr>
                          <m:t>𝑎𝑣𝑒</m:t>
                        </m:r>
                      </m:sub>
                    </m:sSub>
                    <m:r>
                      <a:rPr lang="en-US" sz="2000" i="1">
                        <a:latin typeface="Cambria Math" panose="02040503050406030204" pitchFamily="18" charset="0"/>
                      </a:rPr>
                      <m:t>𝛥</m:t>
                    </m:r>
                    <m:r>
                      <a:rPr lang="en-US" sz="2000" i="1">
                        <a:latin typeface="Cambria Math" panose="02040503050406030204" pitchFamily="18" charset="0"/>
                      </a:rPr>
                      <m:t>𝑡</m:t>
                    </m:r>
                    <m:r>
                      <a:rPr lang="en-US" sz="2000" i="1">
                        <a:latin typeface="Cambria Math" panose="02040503050406030204" pitchFamily="18" charset="0"/>
                      </a:rPr>
                      <m:t> </m:t>
                    </m:r>
                  </m:oMath>
                </a14:m>
                <a:r>
                  <a:rPr lang="en-US" sz="2000" dirty="0"/>
                  <a:t>and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2</m:t>
                        </m:r>
                      </m:sub>
                    </m:sSub>
                    <m:r>
                      <a:rPr lang="en-US" sz="2000" b="0" i="1" dirty="0" smtClean="0">
                        <a:latin typeface="Cambria Math" panose="02040503050406030204" pitchFamily="18" charset="0"/>
                      </a:rPr>
                      <m:t>=</m:t>
                    </m:r>
                  </m:oMath>
                </a14:m>
                <a:r>
                  <a:rPr lang="en-US" sz="2000" dirty="0"/>
                  <a:t> change in momentum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𝑚</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𝑓</m:t>
                        </m:r>
                      </m:sub>
                    </m:sSub>
                    <m:r>
                      <a:rPr lang="en-US" sz="2000" b="0" i="1" smtClean="0">
                        <a:latin typeface="Cambria Math" panose="02040503050406030204" pitchFamily="18" charset="0"/>
                      </a:rPr>
                      <m:t>−</m:t>
                    </m:r>
                    <m:r>
                      <a:rPr lang="en-US" sz="2000" i="1">
                        <a:latin typeface="Cambria Math" panose="02040503050406030204" pitchFamily="18" charset="0"/>
                      </a:rPr>
                      <m:t>𝑚</m:t>
                    </m:r>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oMath>
                </a14:m>
                <a:endParaRPr lang="en-US" sz="2000" dirty="0"/>
              </a:p>
              <a:p>
                <a:pPr marL="0" indent="0">
                  <a:buNone/>
                </a:pPr>
                <a:r>
                  <a:rPr lang="en-US" sz="2000" dirty="0"/>
                  <a:t>4.	Do your data support the impulse-momentum theorem? Explain.</a:t>
                </a:r>
              </a:p>
              <a:p>
                <a:pPr marL="0" indent="0">
                  <a:buNone/>
                </a:pPr>
                <a:r>
                  <a:rPr lang="en-US" sz="2000" dirty="0"/>
                  <a:t>5.	Look at the shape of the last force vs. time graph. </a:t>
                </a:r>
              </a:p>
              <a:p>
                <a:pPr marL="0" indent="0">
                  <a:buNone/>
                </a:pPr>
                <a:r>
                  <a:rPr lang="en-US" sz="2000" dirty="0"/>
                  <a:t>Is there a way you could deliver the same impulse with a much smaller force? Explain.</a:t>
                </a:r>
              </a:p>
            </p:txBody>
          </p:sp>
        </mc:Choice>
        <mc:Fallback xmlns="">
          <p:sp>
            <p:nvSpPr>
              <p:cNvPr id="3" name="Content Placeholder 2">
                <a:extLst>
                  <a:ext uri="{FF2B5EF4-FFF2-40B4-BE49-F238E27FC236}">
                    <a16:creationId xmlns:a16="http://schemas.microsoft.com/office/drawing/2014/main" id="{531C8157-8764-3EB4-3DE6-5AE727908D58}"/>
                  </a:ext>
                </a:extLst>
              </p:cNvPr>
              <p:cNvSpPr>
                <a:spLocks noAdjustHandles="1" noChangeArrowheads="1" noChangeAspect="1" noChangeShapeType="1" noEditPoints="1" noGrp="1" noMove="1" noResize="1" noRot="1" noTextEdit="1"/>
              </p:cNvSpPr>
              <p:nvPr>
                <p:ph idx="1"/>
              </p:nvPr>
            </p:nvSpPr>
            <p:spPr>
              <a:xfrm>
                <a:off x="677333" y="1488613"/>
                <a:ext cx="8942527" cy="5201436"/>
              </a:xfrm>
              <a:blipFill>
                <a:blip r:embed="rId2"/>
                <a:stretch>
                  <a:fillRect l="-682" r="-545" t="-703"/>
                </a:stretch>
              </a:blipFill>
            </p:spPr>
            <p:txBody>
              <a:bodyPr/>
              <a:lstStyle/>
              <a:p>
                <a:r>
                  <a:rPr lang="en-US">
                    <a:noFill/>
                  </a:rPr>
                  <a:t> </a:t>
                </a:r>
              </a:p>
            </p:txBody>
          </p:sp>
        </mc:Fallback>
      </mc:AlternateContent>
      <p:pic>
        <p:nvPicPr>
          <p:cNvPr id="4" name="Picture 3" descr="A laboratory or classroom setting with a large black table in the foreground, equipped with scientific instruments and connected to a laptop on the left side. There are wooden cabinets and chairs around the table, and a window in the background.">
            <a:extLst>
              <a:ext uri="{FF2B5EF4-FFF2-40B4-BE49-F238E27FC236}">
                <a16:creationId xmlns:a16="http://schemas.microsoft.com/office/drawing/2014/main" id="{92CEF303-6AF5-F6C3-6B0B-2BE8A956E1CD}"/>
              </a:ext>
            </a:extLst>
          </p:cNvPr>
          <p:cNvPicPr>
            <a:picLocks noChangeAspect="1"/>
          </p:cNvPicPr>
          <p:nvPr/>
        </p:nvPicPr>
        <p:blipFill>
          <a:blip r:embed="rId3"/>
          <a:stretch>
            <a:fillRect/>
          </a:stretch>
        </p:blipFill>
        <p:spPr>
          <a:xfrm>
            <a:off x="3391309" y="3429000"/>
            <a:ext cx="2862317" cy="646330"/>
          </a:xfrm>
          <a:prstGeom prst="rect">
            <a:avLst/>
          </a:prstGeom>
        </p:spPr>
      </p:pic>
    </p:spTree>
    <p:extLst>
      <p:ext uri="{BB962C8B-B14F-4D97-AF65-F5344CB8AC3E}">
        <p14:creationId xmlns:p14="http://schemas.microsoft.com/office/powerpoint/2010/main" val="2930213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D7C39-3A98-DF90-660B-94A900008D43}"/>
              </a:ext>
            </a:extLst>
          </p:cNvPr>
          <p:cNvSpPr>
            <a:spLocks noGrp="1"/>
          </p:cNvSpPr>
          <p:nvPr>
            <p:ph type="title"/>
          </p:nvPr>
        </p:nvSpPr>
        <p:spPr/>
        <p:txBody>
          <a:bodyPr/>
          <a:lstStyle/>
          <a:p>
            <a:r>
              <a:rPr lang="en-US" dirty="0">
                <a:solidFill>
                  <a:srgbClr val="1391BC"/>
                </a:solidFill>
              </a:rPr>
              <a:t>Summary and Analysis, Cont.</a:t>
            </a:r>
            <a:endParaRPr lang="en-US" dirty="0"/>
          </a:p>
        </p:txBody>
      </p:sp>
      <p:sp>
        <p:nvSpPr>
          <p:cNvPr id="3" name="Content Placeholder 2">
            <a:extLst>
              <a:ext uri="{FF2B5EF4-FFF2-40B4-BE49-F238E27FC236}">
                <a16:creationId xmlns:a16="http://schemas.microsoft.com/office/drawing/2014/main" id="{000E1898-26C7-3241-3ACF-CE91AD3B5DEB}"/>
              </a:ext>
            </a:extLst>
          </p:cNvPr>
          <p:cNvSpPr>
            <a:spLocks noGrp="1"/>
          </p:cNvSpPr>
          <p:nvPr>
            <p:ph idx="1"/>
          </p:nvPr>
        </p:nvSpPr>
        <p:spPr>
          <a:xfrm>
            <a:off x="677334" y="1455577"/>
            <a:ext cx="8596668" cy="5113174"/>
          </a:xfrm>
        </p:spPr>
        <p:txBody>
          <a:bodyPr>
            <a:normAutofit/>
          </a:bodyPr>
          <a:lstStyle/>
          <a:p>
            <a:pPr marL="0" indent="0">
              <a:buNone/>
            </a:pPr>
            <a:r>
              <a:rPr lang="en-US" dirty="0"/>
              <a:t>6.	When you used a stiffer or tighter elastic material, what effect did this have on the duration of the impulse? </a:t>
            </a:r>
          </a:p>
          <a:p>
            <a:pPr marL="0" indent="0">
              <a:buNone/>
            </a:pPr>
            <a:endParaRPr lang="en-US" dirty="0"/>
          </a:p>
          <a:p>
            <a:pPr marL="0" indent="0">
              <a:buNone/>
            </a:pPr>
            <a:r>
              <a:rPr lang="en-US" dirty="0"/>
              <a:t>	(a)	What effect did this have on the maximum size of the force? </a:t>
            </a:r>
          </a:p>
          <a:p>
            <a:pPr marL="0" indent="0">
              <a:buNone/>
            </a:pPr>
            <a:endParaRPr lang="en-US" dirty="0"/>
          </a:p>
          <a:p>
            <a:pPr marL="0" indent="0">
              <a:buNone/>
            </a:pPr>
            <a:r>
              <a:rPr lang="en-US" dirty="0"/>
              <a:t>	(b)	Can you develop a general rule from these observations? </a:t>
            </a:r>
          </a:p>
          <a:p>
            <a:pPr marL="0" indent="0">
              <a:buNone/>
            </a:pPr>
            <a:endParaRPr lang="en-US" dirty="0"/>
          </a:p>
          <a:p>
            <a:pPr marL="0" indent="0">
              <a:buNone/>
            </a:pPr>
            <a:r>
              <a:rPr lang="en-US" dirty="0"/>
              <a:t>7.	Give one random error for this experiment. Say explicitly why it is a random error.</a:t>
            </a:r>
          </a:p>
          <a:p>
            <a:pPr marL="0" indent="0">
              <a:buNone/>
            </a:pPr>
            <a:endParaRPr lang="en-US"/>
          </a:p>
          <a:p>
            <a:pPr marL="0" indent="0">
              <a:buNone/>
            </a:pPr>
            <a:endParaRPr lang="en-US" dirty="0"/>
          </a:p>
          <a:p>
            <a:pPr marL="0" indent="0">
              <a:buNone/>
            </a:pPr>
            <a:r>
              <a:rPr lang="en-US" dirty="0"/>
              <a:t>8.	Give one systematic error for this experiment. Say explicitly why it is a systematic error.</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6198075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2.xml><?xml version="1.0" encoding="utf-8"?>
<ds:datastoreItem xmlns:ds="http://schemas.openxmlformats.org/officeDocument/2006/customXml" ds:itemID="{7225624F-0EAC-4094-AA61-F8B3C677E67B}">
  <ds:schemaRefs>
    <ds:schemaRef ds:uri="http://schemas.microsoft.com/sharepoint/v3/contenttype/forms"/>
  </ds:schemaRefs>
</ds:datastoreItem>
</file>

<file path=customXml/itemProps3.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12653</TotalTime>
  <Words>1516</Words>
  <Application>Microsoft Office PowerPoint</Application>
  <PresentationFormat>Widescreen</PresentationFormat>
  <Paragraphs>75</Paragraphs>
  <Slides>13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0" baseType="lpstr">
      <vt:lpstr>Arial</vt:lpstr>
      <vt:lpstr>Cambria Math</vt:lpstr>
      <vt:lpstr>Times New Roman</vt:lpstr>
      <vt:lpstr>Trebuchet MS</vt:lpstr>
      <vt:lpstr>Wingdings 3</vt:lpstr>
      <vt:lpstr>Facet</vt:lpstr>
      <vt:lpstr>Document</vt:lpstr>
      <vt:lpstr>Lab 8:Impulse and Momentum </vt:lpstr>
      <vt:lpstr>Introduction</vt:lpstr>
      <vt:lpstr>Introduction, Cont</vt:lpstr>
      <vt:lpstr>Apparatus</vt:lpstr>
      <vt:lpstr>Preliminary Questions</vt:lpstr>
      <vt:lpstr>Procedure</vt:lpstr>
      <vt:lpstr>Procedure, Cont</vt:lpstr>
      <vt:lpstr>Procedure, Cont.</vt:lpstr>
      <vt:lpstr>Procedure, Cont.</vt:lpstr>
      <vt:lpstr>Data Table</vt:lpstr>
      <vt:lpstr>Summary and Analysis</vt:lpstr>
      <vt:lpstr>Summary and Analysis, Cont</vt:lpstr>
      <vt:lpstr>Summary and Analysis,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Patrick Hearin</dc:creator>
  <cp:lastModifiedBy>Tyrone Clinton</cp:lastModifiedBy>
  <cp:revision>99</cp:revision>
  <dcterms:created xsi:type="dcterms:W3CDTF">2015-03-02T04:15:14Z</dcterms:created>
  <dcterms:modified xsi:type="dcterms:W3CDTF">2026-02-24T00:05:54Z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y fmtid="{D5CDD505-2E9C-101B-9397-08002B2CF9AE}" pid="3" name="ReadingOrderVerifiedPages">
    <vt:lpwstr>4,7</vt:lpwstr>
  </property>
</Properties>
</file>