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318" r:id="rId6"/>
    <p:sldId id="311" r:id="rId7"/>
    <p:sldId id="326" r:id="rId8"/>
    <p:sldId id="327" r:id="rId9"/>
    <p:sldId id="328" r:id="rId10"/>
    <p:sldId id="32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03BCAF-5EEC-49B1-889A-81DCEF51F401}" v="227" dt="2023-12-04T20:31:04.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102" autoAdjust="0"/>
    <p:restoredTop sz="94660"/>
  </p:normalViewPr>
  <p:slideViewPr>
    <p:cSldViewPr snapToGrid="0">
      <p:cViewPr varScale="1">
        <p:scale>
          <a:sx n="111" d="100"/>
          <a:sy n="111" d="100"/>
        </p:scale>
        <p:origin x="186"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2/3/2026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4117" y="637121"/>
            <a:ext cx="8509886" cy="1646302"/>
          </a:xfrm>
        </p:spPr>
        <p:txBody>
          <a:bodyPr/>
          <a:lstStyle/>
          <a:p>
            <a:pPr algn="ctr"/>
            <a:r>
              <a:rPr lang="en-US" dirty="0">
                <a:solidFill>
                  <a:srgbClr val="1391BC"/>
                </a:solidFill>
              </a:rPr>
              <a:t>Lab 3:  Measurement of Pi and Density</a:t>
            </a:r>
          </a:p>
        </p:txBody>
      </p:sp>
      <p:sp>
        <p:nvSpPr>
          <p:cNvPr id="3" name="Subtitle 2"/>
          <p:cNvSpPr>
            <a:spLocks noGrp="1"/>
          </p:cNvSpPr>
          <p:nvPr>
            <p:ph type="subTitle" idx="1"/>
          </p:nvPr>
        </p:nvSpPr>
        <p:spPr>
          <a:xfrm>
            <a:off x="1507067" y="2698286"/>
            <a:ext cx="7766936" cy="1096899"/>
          </a:xfrm>
        </p:spPr>
        <p:txBody>
          <a:bodyPr>
            <a:normAutofit/>
          </a:bodyPr>
          <a:lstStyle/>
          <a:p>
            <a:r>
              <a:rPr lang="en-US" dirty="0"/>
              <a:t>St. Petersburg College</a:t>
            </a:r>
          </a:p>
          <a:p>
            <a:endParaRPr lang="en-US" dirty="0"/>
          </a:p>
        </p:txBody>
      </p:sp>
      <p:pic>
        <p:nvPicPr>
          <p:cNvPr id="4" name="Picture 3" descr="St. Petersburg College emblem featuring a shield with a book, torch, and a banner, surrounded by a circular bord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133" y="4210048"/>
            <a:ext cx="1828804" cy="1828804"/>
          </a:xfrm>
          <a:prstGeom prst="rect">
            <a:avLst/>
          </a:prstGeom>
        </p:spPr>
      </p:pic>
    </p:spTree>
    <p:extLst>
      <p:ext uri="{BB962C8B-B14F-4D97-AF65-F5344CB8AC3E}">
        <p14:creationId xmlns:p14="http://schemas.microsoft.com/office/powerpoint/2010/main" val="76048760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2500" fill="hold"/>
                                        <p:tgtEl>
                                          <p:spTgt spid="4"/>
                                        </p:tgtEl>
                                        <p:attrNameLst>
                                          <p:attrName>ppt_x</p:attrName>
                                        </p:attrNameLst>
                                      </p:cBhvr>
                                      <p:tavLst>
                                        <p:tav tm="0">
                                          <p:val>
                                            <p:strVal val="#ppt_x"/>
                                          </p:val>
                                        </p:tav>
                                        <p:tav tm="100000">
                                          <p:val>
                                            <p:strVal val="#ppt_x"/>
                                          </p:val>
                                        </p:tav>
                                      </p:tavLst>
                                    </p:anim>
                                    <p:anim calcmode="lin" valueType="num">
                                      <p:cBhvr additive="base">
                                        <p:cTn id="12" dur="2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3698"/>
            <a:ext cx="8596668" cy="659363"/>
          </a:xfrm>
        </p:spPr>
        <p:txBody>
          <a:bodyPr/>
          <a:lstStyle/>
          <a:p>
            <a:r>
              <a:rPr lang="en-US" dirty="0">
                <a:solidFill>
                  <a:srgbClr val="1391BC"/>
                </a:solidFill>
              </a:rPr>
              <a:t>Introduction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77334" y="1073022"/>
                <a:ext cx="8596668" cy="5230974"/>
              </a:xfrm>
            </p:spPr>
            <p:txBody>
              <a:bodyPr>
                <a:normAutofit fontScale="47500" lnSpcReduction="20000"/>
              </a:bodyPr>
              <a:lstStyle/>
              <a:p>
                <a:r>
                  <a:rPr lang="en-US" sz="4000" dirty="0"/>
                  <a:t>Both </a:t>
                </a:r>
                <a14:m>
                  <m:oMath xmlns:m="http://schemas.openxmlformats.org/officeDocument/2006/math">
                    <m:r>
                      <a:rPr lang="en-US" sz="4000" i="1" smtClean="0">
                        <a:latin typeface="Cambria Math" panose="02040503050406030204" pitchFamily="18" charset="0"/>
                        <a:ea typeface="Cambria Math" panose="02040503050406030204" pitchFamily="18" charset="0"/>
                      </a:rPr>
                      <m:t>𝜋</m:t>
                    </m:r>
                  </m:oMath>
                </a14:m>
                <a:r>
                  <a:rPr lang="en-US" sz="4000" dirty="0"/>
                  <a:t> determinations methods are based on the fact that for a circular object the circumference, </a:t>
                </a:r>
                <a14:m>
                  <m:oMath xmlns:m="http://schemas.openxmlformats.org/officeDocument/2006/math">
                    <m:r>
                      <a:rPr lang="en-US" sz="4000" i="1" dirty="0" smtClean="0">
                        <a:latin typeface="Cambria Math" panose="02040503050406030204" pitchFamily="18" charset="0"/>
                      </a:rPr>
                      <m:t>𝐶</m:t>
                    </m:r>
                  </m:oMath>
                </a14:m>
                <a:r>
                  <a:rPr lang="en-US" sz="4000" dirty="0"/>
                  <a:t>, is equal to </a:t>
                </a:r>
                <a14:m>
                  <m:oMath xmlns:m="http://schemas.openxmlformats.org/officeDocument/2006/math">
                    <m:r>
                      <a:rPr lang="en-US" sz="4000" i="1" smtClean="0">
                        <a:latin typeface="Cambria Math" panose="02040503050406030204" pitchFamily="18" charset="0"/>
                        <a:ea typeface="Cambria Math" panose="02040503050406030204" pitchFamily="18" charset="0"/>
                      </a:rPr>
                      <m:t>𝜋</m:t>
                    </m:r>
                  </m:oMath>
                </a14:m>
                <a:r>
                  <a:rPr lang="en-US" sz="4000" dirty="0"/>
                  <a:t> times the object’s diameter, </a:t>
                </a:r>
                <a14:m>
                  <m:oMath xmlns:m="http://schemas.openxmlformats.org/officeDocument/2006/math">
                    <m:r>
                      <a:rPr lang="en-US" sz="4000" i="1" dirty="0" smtClean="0">
                        <a:latin typeface="Cambria Math" panose="02040503050406030204" pitchFamily="18" charset="0"/>
                      </a:rPr>
                      <m:t>𝑑</m:t>
                    </m:r>
                    <m:r>
                      <a:rPr lang="en-US" sz="4000" i="1" dirty="0" smtClean="0">
                        <a:latin typeface="Cambria Math" panose="02040503050406030204" pitchFamily="18" charset="0"/>
                      </a:rPr>
                      <m:t>, </m:t>
                    </m:r>
                  </m:oMath>
                </a14:m>
                <a:r>
                  <a:rPr lang="en-US" sz="4000" dirty="0"/>
                  <a:t>i.e. </a:t>
                </a:r>
                <a14:m>
                  <m:oMath xmlns:m="http://schemas.openxmlformats.org/officeDocument/2006/math">
                    <m:r>
                      <a:rPr lang="en-US" sz="4000" i="1" dirty="0">
                        <a:latin typeface="Cambria Math" panose="02040503050406030204" pitchFamily="18" charset="0"/>
                      </a:rPr>
                      <m:t>𝐶</m:t>
                    </m:r>
                    <m:r>
                      <a:rPr lang="en-US" sz="4000" i="1" dirty="0">
                        <a:latin typeface="Cambria Math" panose="02040503050406030204" pitchFamily="18" charset="0"/>
                      </a:rPr>
                      <m:t>=2</m:t>
                    </m:r>
                    <m:r>
                      <a:rPr lang="en-US" sz="4000" i="1" dirty="0">
                        <a:latin typeface="Cambria Math" panose="02040503050406030204" pitchFamily="18" charset="0"/>
                        <a:ea typeface="Cambria Math" panose="02040503050406030204" pitchFamily="18" charset="0"/>
                      </a:rPr>
                      <m:t>𝜋</m:t>
                    </m:r>
                    <m:r>
                      <a:rPr lang="en-US" sz="4000" i="1" dirty="0">
                        <a:latin typeface="Cambria Math" panose="02040503050406030204" pitchFamily="18" charset="0"/>
                        <a:ea typeface="Cambria Math" panose="02040503050406030204" pitchFamily="18" charset="0"/>
                      </a:rPr>
                      <m:t>𝑟</m:t>
                    </m:r>
                    <m:r>
                      <a:rPr lang="en-US" sz="4000" i="1" dirty="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ea typeface="Cambria Math" panose="02040503050406030204" pitchFamily="18" charset="0"/>
                      </a:rPr>
                      <m:t>𝜋</m:t>
                    </m:r>
                    <m:r>
                      <a:rPr lang="en-US" sz="4000" i="1" dirty="0">
                        <a:latin typeface="Cambria Math" panose="02040503050406030204" pitchFamily="18" charset="0"/>
                        <a:ea typeface="Cambria Math" panose="02040503050406030204" pitchFamily="18" charset="0"/>
                      </a:rPr>
                      <m:t>𝑑</m:t>
                    </m:r>
                  </m:oMath>
                </a14:m>
                <a:r>
                  <a:rPr lang="en-US" sz="4000" dirty="0"/>
                  <a:t>. Note the diameter is easier than the radius to directly measure. Solving this for </a:t>
                </a:r>
                <a14:m>
                  <m:oMath xmlns:m="http://schemas.openxmlformats.org/officeDocument/2006/math">
                    <m:r>
                      <a:rPr lang="en-US" sz="4000" i="1" dirty="0">
                        <a:latin typeface="Cambria Math" panose="02040503050406030204" pitchFamily="18" charset="0"/>
                        <a:ea typeface="Cambria Math" panose="02040503050406030204" pitchFamily="18" charset="0"/>
                      </a:rPr>
                      <m:t>𝜋</m:t>
                    </m:r>
                  </m:oMath>
                </a14:m>
                <a:r>
                  <a:rPr lang="en-US" sz="4000" dirty="0"/>
                  <a:t>, we obtain</a:t>
                </a:r>
              </a:p>
              <a:p>
                <a:pPr marL="0" indent="0" algn="ctr">
                  <a:buNone/>
                </a:pPr>
                <a14:m>
                  <m:oMath xmlns:m="http://schemas.openxmlformats.org/officeDocument/2006/math">
                    <m:r>
                      <a:rPr lang="en-US" sz="4000" i="1" dirty="0">
                        <a:latin typeface="Cambria Math" panose="02040503050406030204" pitchFamily="18" charset="0"/>
                        <a:ea typeface="Cambria Math" panose="02040503050406030204" pitchFamily="18" charset="0"/>
                      </a:rPr>
                      <m:t>𝜋</m:t>
                    </m:r>
                    <m:r>
                      <a:rPr lang="en-US" sz="4000" i="1" dirty="0">
                        <a:latin typeface="Cambria Math" panose="02040503050406030204" pitchFamily="18" charset="0"/>
                        <a:ea typeface="Cambria Math" panose="02040503050406030204" pitchFamily="18" charset="0"/>
                      </a:rPr>
                      <m:t>=</m:t>
                    </m:r>
                    <m:r>
                      <a:rPr lang="en-US" sz="4000" b="0" i="1" dirty="0" smtClean="0">
                        <a:latin typeface="Cambria Math" panose="02040503050406030204" pitchFamily="18" charset="0"/>
                        <a:ea typeface="Cambria Math" panose="02040503050406030204" pitchFamily="18" charset="0"/>
                      </a:rPr>
                      <m:t>𝐶</m:t>
                    </m:r>
                    <m:r>
                      <a:rPr lang="en-US" sz="4000" b="0" i="1" dirty="0" smtClean="0">
                        <a:latin typeface="Cambria Math" panose="02040503050406030204" pitchFamily="18" charset="0"/>
                        <a:ea typeface="Cambria Math" panose="02040503050406030204" pitchFamily="18" charset="0"/>
                      </a:rPr>
                      <m:t>/</m:t>
                    </m:r>
                    <m:r>
                      <a:rPr lang="en-US" sz="4000" i="1" dirty="0">
                        <a:latin typeface="Cambria Math" panose="02040503050406030204" pitchFamily="18" charset="0"/>
                        <a:ea typeface="Cambria Math" panose="02040503050406030204" pitchFamily="18" charset="0"/>
                      </a:rPr>
                      <m:t>𝑑</m:t>
                    </m:r>
                  </m:oMath>
                </a14:m>
                <a:r>
                  <a:rPr lang="en-US" sz="4000" dirty="0"/>
                  <a:t>.</a:t>
                </a:r>
              </a:p>
              <a:p>
                <a:r>
                  <a:rPr lang="en-US" sz="4000" dirty="0"/>
                  <a:t>Both density determinations are based on the definition of density, </a:t>
                </a:r>
                <a14:m>
                  <m:oMath xmlns:m="http://schemas.openxmlformats.org/officeDocument/2006/math">
                    <m:r>
                      <a:rPr lang="en-US" sz="4000" i="1" dirty="0" smtClean="0">
                        <a:latin typeface="Cambria Math" panose="02040503050406030204" pitchFamily="18" charset="0"/>
                        <a:ea typeface="Cambria Math" panose="02040503050406030204" pitchFamily="18" charset="0"/>
                      </a:rPr>
                      <m:t>𝜌</m:t>
                    </m:r>
                    <m:r>
                      <a:rPr lang="en-US" sz="4000" i="1" dirty="0" smtClean="0">
                        <a:latin typeface="Cambria Math" panose="02040503050406030204" pitchFamily="18" charset="0"/>
                      </a:rPr>
                      <m:t> = </m:t>
                    </m:r>
                    <m:r>
                      <a:rPr lang="en-US" sz="4000" i="1" dirty="0" smtClean="0">
                        <a:latin typeface="Cambria Math" panose="02040503050406030204" pitchFamily="18" charset="0"/>
                      </a:rPr>
                      <m:t>𝑚</m:t>
                    </m:r>
                    <m:r>
                      <a:rPr lang="en-US" sz="4000" i="1" dirty="0" smtClean="0">
                        <a:latin typeface="Cambria Math" panose="02040503050406030204" pitchFamily="18" charset="0"/>
                      </a:rPr>
                      <m:t>/</m:t>
                    </m:r>
                    <m:r>
                      <a:rPr lang="en-US" sz="4000" i="1" dirty="0" smtClean="0">
                        <a:latin typeface="Cambria Math" panose="02040503050406030204" pitchFamily="18" charset="0"/>
                      </a:rPr>
                      <m:t>𝑉</m:t>
                    </m:r>
                  </m:oMath>
                </a14:m>
                <a:r>
                  <a:rPr lang="en-US" sz="4000" dirty="0"/>
                  <a:t> where </a:t>
                </a:r>
                <a14:m>
                  <m:oMath xmlns:m="http://schemas.openxmlformats.org/officeDocument/2006/math">
                    <m:r>
                      <a:rPr lang="en-US" sz="4000" i="1" dirty="0" smtClean="0">
                        <a:latin typeface="Cambria Math" panose="02040503050406030204" pitchFamily="18" charset="0"/>
                      </a:rPr>
                      <m:t>𝑚</m:t>
                    </m:r>
                  </m:oMath>
                </a14:m>
                <a:r>
                  <a:rPr lang="en-US" sz="4000" dirty="0"/>
                  <a:t> is the mass and </a:t>
                </a:r>
                <a14:m>
                  <m:oMath xmlns:m="http://schemas.openxmlformats.org/officeDocument/2006/math">
                    <m:r>
                      <a:rPr lang="en-US" sz="4000" i="1" dirty="0" smtClean="0">
                        <a:latin typeface="Cambria Math" panose="02040503050406030204" pitchFamily="18" charset="0"/>
                      </a:rPr>
                      <m:t>𝑉</m:t>
                    </m:r>
                  </m:oMath>
                </a14:m>
                <a:r>
                  <a:rPr lang="en-US" sz="4000" dirty="0"/>
                  <a:t> is the volume.</a:t>
                </a:r>
              </a:p>
              <a:p>
                <a:r>
                  <a:rPr lang="en-US" sz="4000" dirty="0"/>
                  <a:t>The direct calculation method simply calculates </a:t>
                </a:r>
                <a14:m>
                  <m:oMath xmlns:m="http://schemas.openxmlformats.org/officeDocument/2006/math">
                    <m:r>
                      <a:rPr lang="en-US" sz="4000" i="1" dirty="0" smtClean="0">
                        <a:latin typeface="Cambria Math" panose="02040503050406030204" pitchFamily="18" charset="0"/>
                      </a:rPr>
                      <m:t>𝜋</m:t>
                    </m:r>
                  </m:oMath>
                </a14:m>
                <a:r>
                  <a:rPr lang="en-US" sz="4000" dirty="0"/>
                  <a:t> and </a:t>
                </a:r>
                <a14:m>
                  <m:oMath xmlns:m="http://schemas.openxmlformats.org/officeDocument/2006/math">
                    <m:r>
                      <a:rPr lang="en-US" sz="4000" i="1" dirty="0">
                        <a:latin typeface="Cambria Math" panose="02040503050406030204" pitchFamily="18" charset="0"/>
                        <a:ea typeface="Cambria Math" panose="02040503050406030204" pitchFamily="18" charset="0"/>
                      </a:rPr>
                      <m:t>𝜌</m:t>
                    </m:r>
                  </m:oMath>
                </a14:m>
                <a:r>
                  <a:rPr lang="en-US" sz="4000" dirty="0"/>
                  <a:t> for each sample and averages the result.</a:t>
                </a:r>
              </a:p>
              <a:p>
                <a:r>
                  <a:rPr lang="en-US" sz="4000" dirty="0"/>
                  <a:t>The graphical method analyzes plots of </a:t>
                </a:r>
                <a14:m>
                  <m:oMath xmlns:m="http://schemas.openxmlformats.org/officeDocument/2006/math">
                    <m:r>
                      <a:rPr lang="en-US" sz="4000" i="1" dirty="0" smtClean="0">
                        <a:latin typeface="Cambria Math" panose="02040503050406030204" pitchFamily="18" charset="0"/>
                      </a:rPr>
                      <m:t>𝐶</m:t>
                    </m:r>
                  </m:oMath>
                </a14:m>
                <a:r>
                  <a:rPr lang="en-US" sz="4000" dirty="0"/>
                  <a:t> vs. </a:t>
                </a:r>
                <a14:m>
                  <m:oMath xmlns:m="http://schemas.openxmlformats.org/officeDocument/2006/math">
                    <m:r>
                      <a:rPr lang="en-US" sz="4000" i="1" dirty="0" smtClean="0">
                        <a:latin typeface="Cambria Math" panose="02040503050406030204" pitchFamily="18" charset="0"/>
                      </a:rPr>
                      <m:t>𝑑</m:t>
                    </m:r>
                  </m:oMath>
                </a14:m>
                <a:r>
                  <a:rPr lang="en-US" sz="4000" dirty="0"/>
                  <a:t> and </a:t>
                </a:r>
                <a14:m>
                  <m:oMath xmlns:m="http://schemas.openxmlformats.org/officeDocument/2006/math">
                    <m:r>
                      <a:rPr lang="en-US" sz="4000" i="1" dirty="0" smtClean="0">
                        <a:latin typeface="Cambria Math" panose="02040503050406030204" pitchFamily="18" charset="0"/>
                      </a:rPr>
                      <m:t>𝑚</m:t>
                    </m:r>
                  </m:oMath>
                </a14:m>
                <a:r>
                  <a:rPr lang="en-US" sz="4000" dirty="0"/>
                  <a:t> vs. </a:t>
                </a:r>
                <a14:m>
                  <m:oMath xmlns:m="http://schemas.openxmlformats.org/officeDocument/2006/math">
                    <m:sSup>
                      <m:sSupPr>
                        <m:ctrlPr>
                          <a:rPr lang="en-US" sz="4000" i="1" dirty="0" smtClean="0">
                            <a:latin typeface="Cambria Math" panose="02040503050406030204" pitchFamily="18" charset="0"/>
                          </a:rPr>
                        </m:ctrlPr>
                      </m:sSupPr>
                      <m:e>
                        <m:r>
                          <a:rPr lang="en-US" sz="4000" b="0" i="1" dirty="0" smtClean="0">
                            <a:latin typeface="Cambria Math" panose="02040503050406030204" pitchFamily="18" charset="0"/>
                          </a:rPr>
                          <m:t>𝑟</m:t>
                        </m:r>
                      </m:e>
                      <m:sup>
                        <m:r>
                          <a:rPr lang="en-US" sz="4000" b="0" i="1" dirty="0" smtClean="0">
                            <a:latin typeface="Cambria Math" panose="02040503050406030204" pitchFamily="18" charset="0"/>
                          </a:rPr>
                          <m:t>2</m:t>
                        </m:r>
                      </m:sup>
                    </m:sSup>
                  </m:oMath>
                </a14:m>
                <a:r>
                  <a:rPr lang="en-US" sz="4000" dirty="0"/>
                  <a:t>, and finds the best straight line through the data, since theoretically the data should lie on a straight line. We then can use the slopes and intercepts to calculate values for </a:t>
                </a:r>
                <a14:m>
                  <m:oMath xmlns:m="http://schemas.openxmlformats.org/officeDocument/2006/math">
                    <m:r>
                      <a:rPr lang="en-US" sz="4000" i="1" dirty="0" smtClean="0">
                        <a:latin typeface="Cambria Math" panose="02040503050406030204" pitchFamily="18" charset="0"/>
                      </a:rPr>
                      <m:t>𝜋</m:t>
                    </m:r>
                  </m:oMath>
                </a14:m>
                <a:r>
                  <a:rPr lang="en-US" sz="4000" dirty="0"/>
                  <a:t> and </a:t>
                </a:r>
                <a14:m>
                  <m:oMath xmlns:m="http://schemas.openxmlformats.org/officeDocument/2006/math">
                    <m:r>
                      <a:rPr lang="en-US" sz="4000" i="1" dirty="0">
                        <a:latin typeface="Cambria Math" panose="02040503050406030204" pitchFamily="18" charset="0"/>
                        <a:ea typeface="Cambria Math" panose="02040503050406030204" pitchFamily="18" charset="0"/>
                      </a:rPr>
                      <m:t>𝜌</m:t>
                    </m:r>
                  </m:oMath>
                </a14:m>
                <a:r>
                  <a:rPr lang="en-US" sz="4000" dirty="0"/>
                  <a:t>. Note that this graphical approach is de facto a form of averaging. The relevant equations follow.</a:t>
                </a:r>
              </a:p>
              <a:p>
                <a:pPr marL="0"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𝑦</m:t>
                      </m:r>
                      <m:r>
                        <a:rPr lang="en-US" sz="4000" b="0" i="1" smtClean="0">
                          <a:latin typeface="Cambria Math" panose="02040503050406030204" pitchFamily="18" charset="0"/>
                        </a:rPr>
                        <m:t>=</m:t>
                      </m:r>
                      <m:r>
                        <a:rPr lang="en-US" sz="4000" b="0" i="1" smtClean="0">
                          <a:latin typeface="Cambria Math" panose="02040503050406030204" pitchFamily="18" charset="0"/>
                        </a:rPr>
                        <m:t>𝑎</m:t>
                      </m:r>
                      <m:r>
                        <a:rPr lang="en-US" sz="4000" b="0" i="1" smtClean="0">
                          <a:latin typeface="Cambria Math" panose="02040503050406030204" pitchFamily="18" charset="0"/>
                        </a:rPr>
                        <m:t>+</m:t>
                      </m:r>
                      <m:r>
                        <a:rPr lang="en-US" sz="4000" b="0" i="1" smtClean="0">
                          <a:latin typeface="Cambria Math" panose="02040503050406030204" pitchFamily="18" charset="0"/>
                        </a:rPr>
                        <m:t>𝑏𝑥</m:t>
                      </m:r>
                    </m:oMath>
                  </m:oMathPara>
                </a14:m>
                <a:endParaRPr lang="en-US" sz="4000" b="0" dirty="0"/>
              </a:p>
              <a:p>
                <a:pPr marL="0"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𝐶</m:t>
                      </m:r>
                      <m:r>
                        <a:rPr lang="en-US" sz="4000" b="0" i="1" smtClean="0">
                          <a:latin typeface="Cambria Math" panose="02040503050406030204" pitchFamily="18" charset="0"/>
                        </a:rPr>
                        <m:t>=0+</m:t>
                      </m:r>
                      <m:r>
                        <a:rPr lang="en-US" sz="4000" b="0" i="1" smtClean="0">
                          <a:latin typeface="Cambria Math" panose="02040503050406030204" pitchFamily="18" charset="0"/>
                          <a:ea typeface="Cambria Math" panose="02040503050406030204" pitchFamily="18" charset="0"/>
                        </a:rPr>
                        <m:t>𝜋</m:t>
                      </m:r>
                      <m:r>
                        <a:rPr lang="en-US" sz="4000" b="0" i="1" smtClean="0">
                          <a:latin typeface="Cambria Math" panose="02040503050406030204" pitchFamily="18" charset="0"/>
                          <a:ea typeface="Cambria Math" panose="02040503050406030204" pitchFamily="18" charset="0"/>
                        </a:rPr>
                        <m:t>𝑑</m:t>
                      </m:r>
                    </m:oMath>
                  </m:oMathPara>
                </a14:m>
                <a:endParaRPr lang="en-US" sz="4000" dirty="0"/>
              </a:p>
              <a:p>
                <a:r>
                  <a:rPr lang="en-US" sz="4000" dirty="0"/>
                  <a:t>Thus, plotted data should produce a straight line with a slope equal to </a:t>
                </a:r>
                <a14:m>
                  <m:oMath xmlns:m="http://schemas.openxmlformats.org/officeDocument/2006/math">
                    <m:r>
                      <a:rPr lang="en-US" sz="4000" i="1" smtClean="0">
                        <a:latin typeface="Cambria Math" panose="02040503050406030204" pitchFamily="18" charset="0"/>
                        <a:ea typeface="Cambria Math" panose="02040503050406030204" pitchFamily="18" charset="0"/>
                      </a:rPr>
                      <m:t>𝜋</m:t>
                    </m:r>
                  </m:oMath>
                </a14:m>
                <a:r>
                  <a:rPr lang="en-US" sz="4000" dirty="0"/>
                  <a:t> and an intercept equal to zero. </a:t>
                </a:r>
              </a:p>
              <a:p>
                <a:endParaRPr lang="en-US" sz="4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77334" y="1073022"/>
                <a:ext cx="8596668" cy="5230974"/>
              </a:xfrm>
              <a:blipFill>
                <a:blip r:embed="rId2"/>
                <a:stretch>
                  <a:fillRect l="-284" t="-1748" r="-1206"/>
                </a:stretch>
              </a:blipFill>
            </p:spPr>
            <p:txBody>
              <a:bodyPr/>
              <a:lstStyle/>
              <a:p>
                <a:r>
                  <a:rPr lang="en-US">
                    <a:noFill/>
                  </a:rPr>
                  <a:t> </a:t>
                </a:r>
              </a:p>
            </p:txBody>
          </p:sp>
        </mc:Fallback>
      </mc:AlternateContent>
    </p:spTree>
    <p:extLst>
      <p:ext uri="{BB962C8B-B14F-4D97-AF65-F5344CB8AC3E}">
        <p14:creationId xmlns:p14="http://schemas.microsoft.com/office/powerpoint/2010/main" val="26560686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1449"/>
            <a:ext cx="8596668" cy="948224"/>
          </a:xfrm>
        </p:spPr>
        <p:txBody>
          <a:bodyPr/>
          <a:lstStyle/>
          <a:p>
            <a:r>
              <a:rPr lang="en-US" dirty="0">
                <a:solidFill>
                  <a:srgbClr val="1391BC"/>
                </a:solidFill>
              </a:rPr>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1306287"/>
                <a:ext cx="8596668" cy="4133460"/>
              </a:xfrm>
            </p:spPr>
            <p:txBody>
              <a:bodyPr>
                <a:normAutofit/>
              </a:bodyPr>
              <a:lstStyle/>
              <a:p>
                <a:r>
                  <a:rPr lang="en-US" sz="2800" dirty="0"/>
                  <a:t>For density, the approach is analogous, noting that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𝑉</m:t>
                        </m:r>
                        <m:r>
                          <a:rPr lang="en-US" sz="2800" i="1" dirty="0">
                            <a:latin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𝜋</m:t>
                        </m:r>
                        <m:r>
                          <a:rPr lang="en-US" sz="2800" i="1" dirty="0">
                            <a:latin typeface="Cambria Math" panose="02040503050406030204" pitchFamily="18" charset="0"/>
                          </a:rPr>
                          <m:t>𝑟</m:t>
                        </m:r>
                      </m:e>
                      <m:sup>
                        <m:r>
                          <a:rPr lang="en-US" sz="2800" i="1" dirty="0">
                            <a:latin typeface="Cambria Math" panose="02040503050406030204" pitchFamily="18" charset="0"/>
                          </a:rPr>
                          <m:t>2</m:t>
                        </m:r>
                      </m:sup>
                    </m:sSup>
                    <m:r>
                      <a:rPr lang="en-US" sz="2800" i="1" dirty="0">
                        <a:latin typeface="Cambria Math" panose="02040503050406030204" pitchFamily="18" charset="0"/>
                      </a:rPr>
                      <m:t>h</m:t>
                    </m:r>
                  </m:oMath>
                </a14:m>
                <a:r>
                  <a:rPr lang="en-US" sz="2800" dirty="0"/>
                  <a:t>  and </a:t>
                </a:r>
                <a14:m>
                  <m:oMath xmlns:m="http://schemas.openxmlformats.org/officeDocument/2006/math">
                    <m:r>
                      <a:rPr lang="en-US" sz="2800" i="1" dirty="0">
                        <a:latin typeface="Cambria Math" panose="02040503050406030204" pitchFamily="18" charset="0"/>
                      </a:rPr>
                      <m:t>𝑚</m:t>
                    </m:r>
                    <m:r>
                      <a:rPr lang="en-US" sz="2800" dirty="0">
                        <a:latin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𝜌</m:t>
                    </m:r>
                    <m:r>
                      <a:rPr lang="en-US" sz="2800" i="1" dirty="0">
                        <a:latin typeface="Cambria Math" panose="02040503050406030204" pitchFamily="18" charset="0"/>
                      </a:rPr>
                      <m:t> </m:t>
                    </m:r>
                    <m:r>
                      <a:rPr lang="en-US" sz="2800" i="1" dirty="0">
                        <a:latin typeface="Cambria Math" panose="02040503050406030204" pitchFamily="18" charset="0"/>
                      </a:rPr>
                      <m:t>𝑉</m:t>
                    </m:r>
                  </m:oMath>
                </a14:m>
                <a:r>
                  <a:rPr lang="en-US" sz="2800" dirty="0"/>
                  <a:t>.</a:t>
                </a:r>
              </a:p>
              <a:p>
                <a:pPr marL="0" indent="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𝑦</m:t>
                      </m:r>
                      <m:r>
                        <a:rPr lang="en-US" sz="2800" i="1">
                          <a:latin typeface="Cambria Math" panose="02040503050406030204" pitchFamily="18" charset="0"/>
                        </a:rPr>
                        <m:t>=</m:t>
                      </m:r>
                      <m:r>
                        <a:rPr lang="en-US" sz="2800" i="1">
                          <a:latin typeface="Cambria Math" panose="02040503050406030204" pitchFamily="18" charset="0"/>
                        </a:rPr>
                        <m:t>𝑎</m:t>
                      </m:r>
                      <m:r>
                        <a:rPr lang="en-US" sz="2800" i="1">
                          <a:latin typeface="Cambria Math" panose="02040503050406030204" pitchFamily="18" charset="0"/>
                        </a:rPr>
                        <m:t>+</m:t>
                      </m:r>
                      <m:r>
                        <a:rPr lang="en-US" sz="2800" i="1">
                          <a:latin typeface="Cambria Math" panose="02040503050406030204" pitchFamily="18" charset="0"/>
                        </a:rPr>
                        <m:t>𝑏𝑥</m:t>
                      </m:r>
                    </m:oMath>
                  </m:oMathPara>
                </a14:m>
                <a:endParaRPr lang="en-US" sz="2800" dirty="0"/>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𝑚</m:t>
                      </m:r>
                      <m:r>
                        <a:rPr lang="en-US" sz="2800" i="1">
                          <a:latin typeface="Cambria Math" panose="02040503050406030204" pitchFamily="18" charset="0"/>
                        </a:rPr>
                        <m:t>=0+</m:t>
                      </m:r>
                      <m:r>
                        <a:rPr lang="en-US" sz="2800" i="1" smtClean="0">
                          <a:latin typeface="Cambria Math" panose="02040503050406030204" pitchFamily="18" charset="0"/>
                          <a:ea typeface="Cambria Math" panose="02040503050406030204" pitchFamily="18" charset="0"/>
                        </a:rPr>
                        <m:t>𝜌</m:t>
                      </m:r>
                      <m:sSup>
                        <m:sSupPr>
                          <m:ctrlPr>
                            <a:rPr lang="en-US" sz="2800" i="1" dirty="0">
                              <a:latin typeface="Cambria Math" panose="02040503050406030204" pitchFamily="18" charset="0"/>
                            </a:rPr>
                          </m:ctrlPr>
                        </m:sSupPr>
                        <m:e>
                          <m:r>
                            <a:rPr lang="en-US" sz="2800" i="1" dirty="0">
                              <a:latin typeface="Cambria Math" panose="02040503050406030204" pitchFamily="18" charset="0"/>
                              <a:ea typeface="Cambria Math" panose="02040503050406030204" pitchFamily="18" charset="0"/>
                            </a:rPr>
                            <m:t>𝜋</m:t>
                          </m:r>
                          <m:r>
                            <a:rPr lang="en-US" sz="2800" i="1" dirty="0">
                              <a:latin typeface="Cambria Math" panose="02040503050406030204" pitchFamily="18" charset="0"/>
                            </a:rPr>
                            <m:t>𝑟</m:t>
                          </m:r>
                        </m:e>
                        <m:sup>
                          <m:r>
                            <a:rPr lang="en-US" sz="2800" i="1" dirty="0">
                              <a:latin typeface="Cambria Math" panose="02040503050406030204" pitchFamily="18" charset="0"/>
                            </a:rPr>
                            <m:t>2</m:t>
                          </m:r>
                        </m:sup>
                      </m:sSup>
                      <m:r>
                        <a:rPr lang="en-US" sz="2800" i="1" dirty="0">
                          <a:latin typeface="Cambria Math" panose="02040503050406030204" pitchFamily="18" charset="0"/>
                        </a:rPr>
                        <m:t>h</m:t>
                      </m:r>
                    </m:oMath>
                  </m:oMathPara>
                </a14:m>
                <a:endParaRPr lang="en-US" sz="2800" dirty="0"/>
              </a:p>
              <a:p>
                <a:r>
                  <a:rPr lang="en-US" sz="2800" dirty="0"/>
                  <a:t>In this case, one should find the intercept equal to zero and solving for </a:t>
                </a:r>
                <a14:m>
                  <m:oMath xmlns:m="http://schemas.openxmlformats.org/officeDocument/2006/math">
                    <m:r>
                      <a:rPr lang="en-US" sz="2800" i="1" dirty="0">
                        <a:latin typeface="Cambria Math" panose="02040503050406030204" pitchFamily="18" charset="0"/>
                        <a:ea typeface="Cambria Math" panose="02040503050406030204" pitchFamily="18" charset="0"/>
                      </a:rPr>
                      <m:t>𝜌</m:t>
                    </m:r>
                  </m:oMath>
                </a14:m>
                <a:r>
                  <a:rPr lang="en-US" sz="2800" dirty="0"/>
                  <a:t> in terms of the slope, </a:t>
                </a:r>
                <a14:m>
                  <m:oMath xmlns:m="http://schemas.openxmlformats.org/officeDocument/2006/math">
                    <m:r>
                      <a:rPr lang="en-US" sz="2800" i="1" dirty="0">
                        <a:latin typeface="Cambria Math" panose="02040503050406030204" pitchFamily="18" charset="0"/>
                      </a:rPr>
                      <m:t>𝑏</m:t>
                    </m:r>
                  </m:oMath>
                </a14:m>
                <a:r>
                  <a:rPr lang="en-US" sz="2800" dirty="0"/>
                  <a:t>, </a:t>
                </a:r>
              </a:p>
              <a:p>
                <a:pPr marL="0" indent="0">
                  <a:buNone/>
                </a:pPr>
                <a14:m>
                  <m:oMathPara xmlns:m="http://schemas.openxmlformats.org/officeDocument/2006/math">
                    <m:oMathParaPr>
                      <m:jc m:val="centerGroup"/>
                    </m:oMathParaPr>
                    <m:oMath xmlns:m="http://schemas.openxmlformats.org/officeDocument/2006/math">
                      <m:r>
                        <a:rPr lang="en-US" sz="2800" i="1" dirty="0">
                          <a:latin typeface="Cambria Math" panose="02040503050406030204" pitchFamily="18" charset="0"/>
                          <a:ea typeface="Cambria Math" panose="02040503050406030204" pitchFamily="18" charset="0"/>
                        </a:rPr>
                        <m:t>𝜌</m:t>
                      </m:r>
                      <m:r>
                        <a:rPr lang="en-US" sz="2800" b="0" i="1" dirty="0" smtClean="0">
                          <a:latin typeface="Cambria Math" panose="02040503050406030204" pitchFamily="18" charset="0"/>
                          <a:ea typeface="Cambria Math" panose="02040503050406030204" pitchFamily="18" charset="0"/>
                        </a:rPr>
                        <m:t>=</m:t>
                      </m:r>
                      <m:f>
                        <m:fPr>
                          <m:ctrlPr>
                            <a:rPr lang="en-US" sz="2800" b="0" i="1" dirty="0" smtClean="0">
                              <a:latin typeface="Cambria Math" panose="02040503050406030204" pitchFamily="18" charset="0"/>
                              <a:ea typeface="Cambria Math" panose="02040503050406030204" pitchFamily="18" charset="0"/>
                            </a:rPr>
                          </m:ctrlPr>
                        </m:fPr>
                        <m:num>
                          <m:r>
                            <a:rPr lang="en-US" sz="2800" b="0" i="1" dirty="0" smtClean="0">
                              <a:latin typeface="Cambria Math" panose="02040503050406030204" pitchFamily="18" charset="0"/>
                              <a:ea typeface="Cambria Math" panose="02040503050406030204" pitchFamily="18" charset="0"/>
                            </a:rPr>
                            <m:t>𝑏</m:t>
                          </m:r>
                        </m:num>
                        <m:den>
                          <m:r>
                            <a:rPr lang="en-US" sz="2800" b="0" i="1" dirty="0" smtClean="0">
                              <a:latin typeface="Cambria Math" panose="02040503050406030204" pitchFamily="18" charset="0"/>
                              <a:ea typeface="Cambria Math" panose="02040503050406030204" pitchFamily="18" charset="0"/>
                            </a:rPr>
                            <m:t>𝜋</m:t>
                          </m:r>
                          <m:r>
                            <a:rPr lang="en-US" sz="2800" b="0" i="1" dirty="0" smtClean="0">
                              <a:latin typeface="Cambria Math" panose="02040503050406030204" pitchFamily="18" charset="0"/>
                              <a:ea typeface="Cambria Math" panose="02040503050406030204" pitchFamily="18" charset="0"/>
                            </a:rPr>
                            <m:t>h</m:t>
                          </m:r>
                        </m:den>
                      </m:f>
                    </m:oMath>
                  </m:oMathPara>
                </a14:m>
                <a:endParaRPr lang="en-US" sz="4000" dirty="0"/>
              </a:p>
              <a:p>
                <a:endParaRPr lang="en-US" sz="4000" dirty="0"/>
              </a:p>
              <a:p>
                <a:endParaRPr lang="en-US" sz="4000" dirty="0"/>
              </a:p>
              <a:p>
                <a:endParaRPr lang="en-US" sz="4000" dirty="0"/>
              </a:p>
            </p:txBody>
          </p:sp>
        </mc:Choice>
        <mc:Fallback xmlns="">
          <p:sp>
            <p:nvSpPr>
              <p:cNvPr id="3" name="Content Placeholder 2"/>
              <p:cNvSpPr>
                <a:spLocks noAdjustHandles="1" noChangeArrowheads="1" noChangeAspect="1" noChangeShapeType="1" noEditPoints="1" noGrp="1" noMove="1" noResize="1" noRot="1" noTextEdit="1"/>
              </p:cNvSpPr>
              <p:nvPr>
                <p:ph idx="1"/>
              </p:nvPr>
            </p:nvSpPr>
            <p:spPr>
              <a:xfrm>
                <a:off x="677334" y="1306287"/>
                <a:ext cx="8596668" cy="4133460"/>
              </a:xfrm>
              <a:blipFill>
                <a:blip r:embed="rId2"/>
                <a:stretch>
                  <a:fillRect l="-851" r="-496" t="-1327"/>
                </a:stretch>
              </a:blipFill>
            </p:spPr>
            <p:txBody>
              <a:bodyPr/>
              <a:lstStyle/>
              <a:p>
                <a:r>
                  <a:rPr lang="en-US">
                    <a:noFill/>
                  </a:rPr>
                  <a:t> </a:t>
                </a:r>
              </a:p>
            </p:txBody>
          </p:sp>
        </mc:Fallback>
      </mc:AlternateContent>
    </p:spTree>
    <p:extLst>
      <p:ext uri="{BB962C8B-B14F-4D97-AF65-F5344CB8AC3E}">
        <p14:creationId xmlns:p14="http://schemas.microsoft.com/office/powerpoint/2010/main" val="3222839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D25F-8F0F-AFE8-7700-65CDEE4012D4}"/>
              </a:ext>
            </a:extLst>
          </p:cNvPr>
          <p:cNvSpPr>
            <a:spLocks noGrp="1"/>
          </p:cNvSpPr>
          <p:nvPr>
            <p:ph type="title"/>
          </p:nvPr>
        </p:nvSpPr>
        <p:spPr>
          <a:xfrm>
            <a:off x="677334" y="609600"/>
            <a:ext cx="8596668" cy="864637"/>
          </a:xfrm>
        </p:spPr>
        <p:txBody>
          <a:bodyPr/>
          <a:lstStyle/>
          <a:p>
            <a:r>
              <a:rPr lang="en-US" dirty="0">
                <a:solidFill>
                  <a:srgbClr val="1391BC"/>
                </a:solidFill>
              </a:rPr>
              <a:t>Objectives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4D2D86-A3FD-F116-6686-C60248A5CD56}"/>
                  </a:ext>
                </a:extLst>
              </p:cNvPr>
              <p:cNvSpPr>
                <a:spLocks noGrp="1"/>
              </p:cNvSpPr>
              <p:nvPr>
                <p:ph idx="1"/>
              </p:nvPr>
            </p:nvSpPr>
            <p:spPr/>
            <p:txBody>
              <a:bodyPr>
                <a:normAutofit/>
              </a:bodyPr>
              <a:lstStyle/>
              <a:p>
                <a:r>
                  <a:rPr lang="en-US" sz="2800" dirty="0"/>
                  <a:t>To experimentally derive a value for </a:t>
                </a:r>
                <a14:m>
                  <m:oMath xmlns:m="http://schemas.openxmlformats.org/officeDocument/2006/math">
                    <m:r>
                      <a:rPr lang="en-US" sz="2800" i="1" dirty="0" smtClean="0">
                        <a:latin typeface="Cambria Math" panose="02040503050406030204" pitchFamily="18" charset="0"/>
                        <a:ea typeface="Cambria Math" panose="02040503050406030204" pitchFamily="18" charset="0"/>
                      </a:rPr>
                      <m:t>𝜋</m:t>
                    </m:r>
                  </m:oMath>
                </a14:m>
                <a:r>
                  <a:rPr lang="en-US" sz="2800" dirty="0"/>
                  <a:t> based on measured dimensions of circular objects and to calculate the density of the objects based on the dimensions and mass. This will be done by two methods, direct calculation and graphical analysis. </a:t>
                </a:r>
              </a:p>
            </p:txBody>
          </p:sp>
        </mc:Choice>
        <mc:Fallback xmlns="">
          <p:sp>
            <p:nvSpPr>
              <p:cNvPr id="3" name="Content Placeholder 2">
                <a:extLst>
                  <a:ext uri="{FF2B5EF4-FFF2-40B4-BE49-F238E27FC236}">
                    <a16:creationId xmlns:a16="http://schemas.microsoft.com/office/drawing/2014/main" id="{6A4D2D86-A3FD-F116-6686-C60248A5CD56}"/>
                  </a:ext>
                </a:extLst>
              </p:cNvPr>
              <p:cNvSpPr>
                <a:spLocks noAdjustHandles="1" noChangeArrowheads="1" noChangeAspect="1" noChangeShapeType="1" noEditPoints="1" noGrp="1" noMove="1" noResize="1" noRot="1" noTextEdit="1"/>
              </p:cNvSpPr>
              <p:nvPr>
                <p:ph idx="1"/>
              </p:nvPr>
            </p:nvSpPr>
            <p:spPr>
              <a:blipFill>
                <a:blip r:embed="rId2"/>
                <a:stretch>
                  <a:fillRect l="-851" r="-213" t="-1413"/>
                </a:stretch>
              </a:blipFill>
            </p:spPr>
            <p:txBody>
              <a:bodyPr/>
              <a:lstStyle/>
              <a:p>
                <a:r>
                  <a:rPr lang="en-US">
                    <a:noFill/>
                  </a:rPr>
                  <a:t> </a:t>
                </a:r>
              </a:p>
            </p:txBody>
          </p:sp>
        </mc:Fallback>
      </mc:AlternateContent>
    </p:spTree>
    <p:extLst>
      <p:ext uri="{BB962C8B-B14F-4D97-AF65-F5344CB8AC3E}">
        <p14:creationId xmlns:p14="http://schemas.microsoft.com/office/powerpoint/2010/main" val="2888896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597D-39F1-EF68-6C1C-62E1B31E2692}"/>
              </a:ext>
            </a:extLst>
          </p:cNvPr>
          <p:cNvSpPr>
            <a:spLocks noGrp="1"/>
          </p:cNvSpPr>
          <p:nvPr>
            <p:ph type="title"/>
          </p:nvPr>
        </p:nvSpPr>
        <p:spPr>
          <a:xfrm>
            <a:off x="677334" y="189723"/>
            <a:ext cx="8596668" cy="752669"/>
          </a:xfrm>
        </p:spPr>
        <p:txBody>
          <a:bodyPr/>
          <a:lstStyle/>
          <a:p>
            <a:r>
              <a:rPr lang="en-US" dirty="0">
                <a:solidFill>
                  <a:srgbClr val="1391BC"/>
                </a:solidFill>
              </a:rPr>
              <a:t>Procedure</a:t>
            </a:r>
          </a:p>
        </p:txBody>
      </p:sp>
      <p:sp>
        <p:nvSpPr>
          <p:cNvPr id="3" name="Content Placeholder 2">
            <a:extLst>
              <a:ext uri="{FF2B5EF4-FFF2-40B4-BE49-F238E27FC236}">
                <a16:creationId xmlns:a16="http://schemas.microsoft.com/office/drawing/2014/main" id="{531CDCBC-012C-914F-3F01-3758BAE92DB5}"/>
              </a:ext>
            </a:extLst>
          </p:cNvPr>
          <p:cNvSpPr>
            <a:spLocks noGrp="1"/>
          </p:cNvSpPr>
          <p:nvPr>
            <p:ph idx="1"/>
          </p:nvPr>
        </p:nvSpPr>
        <p:spPr>
          <a:xfrm>
            <a:off x="677334" y="838201"/>
            <a:ext cx="8596668" cy="1110342"/>
          </a:xfrm>
        </p:spPr>
        <p:txBody>
          <a:bodyPr/>
          <a:lstStyle/>
          <a:p>
            <a:pPr marL="0" indent="0">
              <a:buNone/>
            </a:pPr>
            <a:r>
              <a:rPr lang="en-US" dirty="0"/>
              <a:t>1.	Measure and record in the table below using the circumference, diameter, thickness, and mass of the 5 circular disks (right circular cylinders to be more precise), making sure you measure all the sizes and that you use SI/MKS units.</a:t>
            </a:r>
          </a:p>
        </p:txBody>
      </p:sp>
      <p:graphicFrame>
        <p:nvGraphicFramePr>
          <p:cNvPr id="8" name="Table 7">
            <a:extLst>
              <a:ext uri="{FF2B5EF4-FFF2-40B4-BE49-F238E27FC236}">
                <a16:creationId xmlns:a16="http://schemas.microsoft.com/office/drawing/2014/main" id="{FB218971-CA5D-1249-BCA3-7FA3E6093B1C}"/>
              </a:ext>
            </a:extLst>
          </p:cNvPr>
          <p:cNvGraphicFramePr>
            <a:graphicFrameLocks noGrp="1"/>
          </p:cNvGraphicFramePr>
          <p:nvPr>
            <p:extLst>
              <p:ext uri="{D42A27DB-BD31-4B8C-83A1-F6EECF244321}">
                <p14:modId xmlns:p14="http://schemas.microsoft.com/office/powerpoint/2010/main" val="1072720559"/>
              </p:ext>
            </p:extLst>
          </p:nvPr>
        </p:nvGraphicFramePr>
        <p:xfrm>
          <a:off x="1992394" y="1948543"/>
          <a:ext cx="6373839" cy="2239828"/>
        </p:xfrm>
        <a:graphic>
          <a:graphicData uri="http://schemas.openxmlformats.org/drawingml/2006/table">
            <a:tbl>
              <a:tblPr firstRow="1" firstCol="1" bandRow="1">
                <a:tableStyleId>{5C22544A-7EE6-4342-B048-85BDC9FD1C3A}</a:tableStyleId>
              </a:tblPr>
              <a:tblGrid>
                <a:gridCol w="637384">
                  <a:extLst>
                    <a:ext uri="{9D8B030D-6E8A-4147-A177-3AD203B41FA5}">
                      <a16:colId xmlns:a16="http://schemas.microsoft.com/office/drawing/2014/main" val="1455416332"/>
                    </a:ext>
                  </a:extLst>
                </a:gridCol>
                <a:gridCol w="1529721">
                  <a:extLst>
                    <a:ext uri="{9D8B030D-6E8A-4147-A177-3AD203B41FA5}">
                      <a16:colId xmlns:a16="http://schemas.microsoft.com/office/drawing/2014/main" val="3798524805"/>
                    </a:ext>
                  </a:extLst>
                </a:gridCol>
                <a:gridCol w="1338506">
                  <a:extLst>
                    <a:ext uri="{9D8B030D-6E8A-4147-A177-3AD203B41FA5}">
                      <a16:colId xmlns:a16="http://schemas.microsoft.com/office/drawing/2014/main" val="669191557"/>
                    </a:ext>
                  </a:extLst>
                </a:gridCol>
                <a:gridCol w="1402245">
                  <a:extLst>
                    <a:ext uri="{9D8B030D-6E8A-4147-A177-3AD203B41FA5}">
                      <a16:colId xmlns:a16="http://schemas.microsoft.com/office/drawing/2014/main" val="720297336"/>
                    </a:ext>
                  </a:extLst>
                </a:gridCol>
                <a:gridCol w="1465983">
                  <a:extLst>
                    <a:ext uri="{9D8B030D-6E8A-4147-A177-3AD203B41FA5}">
                      <a16:colId xmlns:a16="http://schemas.microsoft.com/office/drawing/2014/main" val="1309411564"/>
                    </a:ext>
                  </a:extLst>
                </a:gridCol>
              </a:tblGrid>
              <a:tr h="471543">
                <a:tc>
                  <a:txBody>
                    <a:bodyPr/>
                    <a:lstStyle/>
                    <a:p>
                      <a:pPr marL="0" marR="0" algn="ctr">
                        <a:spcBef>
                          <a:spcPts val="0"/>
                        </a:spcBef>
                        <a:spcAft>
                          <a:spcPts val="0"/>
                        </a:spcAft>
                      </a:pPr>
                      <a:r>
                        <a:rPr lang="en-US" sz="1400">
                          <a:solidFill>
                            <a:schemeClr val="tx1"/>
                          </a:solidFill>
                          <a:effectLst/>
                        </a:rPr>
                        <a:t>Disk</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Circumference</a:t>
                      </a:r>
                    </a:p>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Diameter</a:t>
                      </a:r>
                    </a:p>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Thickness</a:t>
                      </a:r>
                    </a:p>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Mass</a:t>
                      </a:r>
                    </a:p>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0533318"/>
                  </a:ext>
                </a:extLst>
              </a:tr>
              <a:tr h="353657">
                <a:tc>
                  <a:txBody>
                    <a:bodyPr/>
                    <a:lstStyle/>
                    <a:p>
                      <a:pPr marL="0" marR="0" algn="ctr">
                        <a:spcBef>
                          <a:spcPts val="0"/>
                        </a:spcBef>
                        <a:spcAft>
                          <a:spcPts val="0"/>
                        </a:spcAft>
                      </a:pPr>
                      <a:r>
                        <a:rPr lang="en-US" sz="1400">
                          <a:solidFill>
                            <a:schemeClr val="tx1"/>
                          </a:solidFill>
                          <a:effectLst/>
                        </a:rPr>
                        <a:t>1</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baseline="300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3427065"/>
                  </a:ext>
                </a:extLst>
              </a:tr>
              <a:tr h="353657">
                <a:tc>
                  <a:txBody>
                    <a:bodyPr/>
                    <a:lstStyle/>
                    <a:p>
                      <a:pPr marL="0" marR="0" algn="ctr">
                        <a:spcBef>
                          <a:spcPts val="0"/>
                        </a:spcBef>
                        <a:spcAft>
                          <a:spcPts val="0"/>
                        </a:spcAft>
                      </a:pPr>
                      <a:r>
                        <a:rPr lang="en-US" sz="1400">
                          <a:solidFill>
                            <a:schemeClr val="tx1"/>
                          </a:solidFill>
                          <a:effectLst/>
                        </a:rPr>
                        <a:t>2</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6856788"/>
                  </a:ext>
                </a:extLst>
              </a:tr>
              <a:tr h="353657">
                <a:tc>
                  <a:txBody>
                    <a:bodyPr/>
                    <a:lstStyle/>
                    <a:p>
                      <a:pPr marL="0" marR="0" algn="ctr">
                        <a:spcBef>
                          <a:spcPts val="0"/>
                        </a:spcBef>
                        <a:spcAft>
                          <a:spcPts val="0"/>
                        </a:spcAft>
                      </a:pPr>
                      <a:r>
                        <a:rPr lang="en-US" sz="1400">
                          <a:solidFill>
                            <a:schemeClr val="tx1"/>
                          </a:solidFill>
                          <a:effectLst/>
                        </a:rPr>
                        <a:t>3</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506059"/>
                  </a:ext>
                </a:extLst>
              </a:tr>
              <a:tr h="353657">
                <a:tc>
                  <a:txBody>
                    <a:bodyPr/>
                    <a:lstStyle/>
                    <a:p>
                      <a:pPr marL="0" marR="0" algn="ctr">
                        <a:spcBef>
                          <a:spcPts val="0"/>
                        </a:spcBef>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5650864"/>
                  </a:ext>
                </a:extLst>
              </a:tr>
              <a:tr h="353657">
                <a:tc>
                  <a:txBody>
                    <a:bodyPr/>
                    <a:lstStyle/>
                    <a:p>
                      <a:pPr marL="0" marR="0" algn="ctr">
                        <a:spcBef>
                          <a:spcPts val="0"/>
                        </a:spcBef>
                        <a:spcAft>
                          <a:spcPts val="0"/>
                        </a:spcAft>
                      </a:pPr>
                      <a:r>
                        <a:rPr lang="en-US" sz="1400">
                          <a:solidFill>
                            <a:schemeClr val="tx1"/>
                          </a:solidFill>
                          <a:effectLst/>
                        </a:rPr>
                        <a:t>5</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rPr>
                        <a:t> </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a:solidFill>
                            <a:schemeClr val="tx1"/>
                          </a:solidFill>
                          <a:effectLst/>
                        </a:rPr>
                        <a:t> </a:t>
                      </a:r>
                      <a:endParaRPr lang="en-US" sz="1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400" dirty="0">
                          <a:solidFill>
                            <a:schemeClr val="tx1"/>
                          </a:solidFill>
                          <a:effectLst/>
                        </a:rPr>
                        <a:t> </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2693543"/>
                  </a:ext>
                </a:extLst>
              </a:tr>
            </a:tbl>
          </a:graphicData>
        </a:graphic>
      </p:graphicFrame>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2CCB2E7-169E-21E8-C7AE-D9CFF5CE384D}"/>
                  </a:ext>
                </a:extLst>
              </p:cNvPr>
              <p:cNvSpPr txBox="1"/>
              <p:nvPr/>
            </p:nvSpPr>
            <p:spPr>
              <a:xfrm>
                <a:off x="1184506" y="4317359"/>
                <a:ext cx="8351379" cy="1477328"/>
              </a:xfrm>
              <a:prstGeom prst="rect">
                <a:avLst/>
              </a:prstGeom>
              <a:noFill/>
            </p:spPr>
            <p:txBody>
              <a:bodyPr wrap="square">
                <a:spAutoFit/>
              </a:bodyPr>
              <a:lstStyle/>
              <a:p>
                <a:r>
                  <a:rPr lang="en-US" dirty="0"/>
                  <a:t>Take this data to a lab computer and construct a spreadsheet similar to the above table to plot your data, calculate average values for </a:t>
                </a:r>
                <a14:m>
                  <m:oMath xmlns:m="http://schemas.openxmlformats.org/officeDocument/2006/math">
                    <m:r>
                      <a:rPr lang="en-US" sz="1800" i="1" dirty="0" smtClean="0">
                        <a:latin typeface="Cambria Math" panose="02040503050406030204" pitchFamily="18" charset="0"/>
                        <a:ea typeface="Cambria Math" panose="02040503050406030204" pitchFamily="18" charset="0"/>
                      </a:rPr>
                      <m:t>𝜋</m:t>
                    </m:r>
                  </m:oMath>
                </a14:m>
                <a:r>
                  <a:rPr lang="en-US" dirty="0"/>
                  <a:t> and </a:t>
                </a:r>
                <a14:m>
                  <m:oMath xmlns:m="http://schemas.openxmlformats.org/officeDocument/2006/math">
                    <m:r>
                      <a:rPr lang="en-US" i="1" dirty="0">
                        <a:latin typeface="Cambria Math" panose="02040503050406030204" pitchFamily="18" charset="0"/>
                        <a:ea typeface="Cambria Math" panose="02040503050406030204" pitchFamily="18" charset="0"/>
                      </a:rPr>
                      <m:t>𝜌</m:t>
                    </m:r>
                  </m:oMath>
                </a14:m>
                <a:r>
                  <a:rPr lang="en-US" dirty="0"/>
                  <a:t>, and compute graphical values for </a:t>
                </a:r>
                <a14:m>
                  <m:oMath xmlns:m="http://schemas.openxmlformats.org/officeDocument/2006/math">
                    <m:r>
                      <a:rPr lang="en-US" i="1" dirty="0">
                        <a:latin typeface="Cambria Math" panose="02040503050406030204" pitchFamily="18" charset="0"/>
                        <a:ea typeface="Cambria Math" panose="02040503050406030204" pitchFamily="18" charset="0"/>
                      </a:rPr>
                      <m:t>𝜋</m:t>
                    </m:r>
                  </m:oMath>
                </a14:m>
                <a:r>
                  <a:rPr lang="en-US" dirty="0"/>
                  <a:t> and </a:t>
                </a:r>
                <a14:m>
                  <m:oMath xmlns:m="http://schemas.openxmlformats.org/officeDocument/2006/math">
                    <m:r>
                      <a:rPr lang="en-US" i="1" dirty="0">
                        <a:latin typeface="Cambria Math" panose="02040503050406030204" pitchFamily="18" charset="0"/>
                        <a:ea typeface="Cambria Math" panose="02040503050406030204" pitchFamily="18" charset="0"/>
                      </a:rPr>
                      <m:t>𝜌</m:t>
                    </m:r>
                  </m:oMath>
                </a14:m>
                <a:r>
                  <a:rPr lang="en-US" dirty="0"/>
                  <a:t>. Use the accepted value of 3.1416 or excel function, Pi() for </a:t>
                </a:r>
                <a14:m>
                  <m:oMath xmlns:m="http://schemas.openxmlformats.org/officeDocument/2006/math">
                    <m:r>
                      <a:rPr lang="en-US" i="1" dirty="0">
                        <a:latin typeface="Cambria Math" panose="02040503050406030204" pitchFamily="18" charset="0"/>
                        <a:ea typeface="Cambria Math" panose="02040503050406030204" pitchFamily="18" charset="0"/>
                      </a:rPr>
                      <m:t>𝜋</m:t>
                    </m:r>
                  </m:oMath>
                </a14:m>
                <a:r>
                  <a:rPr lang="en-US" dirty="0"/>
                  <a:t> when calculating </a:t>
                </a:r>
                <a14:m>
                  <m:oMath xmlns:m="http://schemas.openxmlformats.org/officeDocument/2006/math">
                    <m:r>
                      <a:rPr lang="en-US" i="1" dirty="0">
                        <a:latin typeface="Cambria Math" panose="02040503050406030204" pitchFamily="18" charset="0"/>
                        <a:ea typeface="Cambria Math" panose="02040503050406030204" pitchFamily="18" charset="0"/>
                      </a:rPr>
                      <m:t>𝜌</m:t>
                    </m:r>
                  </m:oMath>
                </a14:m>
                <a:r>
                  <a:rPr lang="en-US" dirty="0"/>
                  <a:t> values. </a:t>
                </a:r>
              </a:p>
              <a:p>
                <a:r>
                  <a:rPr lang="en-US" dirty="0"/>
                  <a:t>Don’t forget to add units to the spreadsheet.</a:t>
                </a:r>
              </a:p>
            </p:txBody>
          </p:sp>
        </mc:Choice>
        <mc:Fallback>
          <p:sp>
            <p:nvSpPr>
              <p:cNvPr id="10" name="TextBox 9">
                <a:extLst>
                  <a:ext uri="{FF2B5EF4-FFF2-40B4-BE49-F238E27FC236}">
                    <a16:creationId xmlns:a16="http://schemas.microsoft.com/office/drawing/2014/main" id="{A2CCB2E7-169E-21E8-C7AE-D9CFF5CE384D}"/>
                  </a:ext>
                </a:extLst>
              </p:cNvPr>
              <p:cNvSpPr txBox="1">
                <a:spLocks noRot="1" noChangeAspect="1" noMove="1" noResize="1" noEditPoints="1" noAdjustHandles="1" noChangeArrowheads="1" noChangeShapeType="1" noTextEdit="1"/>
              </p:cNvSpPr>
              <p:nvPr/>
            </p:nvSpPr>
            <p:spPr>
              <a:xfrm>
                <a:off x="1184506" y="4317359"/>
                <a:ext cx="8351379" cy="1477328"/>
              </a:xfrm>
              <a:prstGeom prst="rect">
                <a:avLst/>
              </a:prstGeom>
              <a:blipFill>
                <a:blip r:embed="rId2"/>
                <a:stretch>
                  <a:fillRect l="-584" t="-2469" b="-493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2A35C45-F4F4-ECC3-4CB6-D4852934A4E7}"/>
              </a:ext>
            </a:extLst>
          </p:cNvPr>
          <p:cNvSpPr txBox="1"/>
          <p:nvPr/>
        </p:nvSpPr>
        <p:spPr>
          <a:xfrm>
            <a:off x="886407" y="6068575"/>
            <a:ext cx="9498563" cy="646331"/>
          </a:xfrm>
          <a:prstGeom prst="rect">
            <a:avLst/>
          </a:prstGeom>
          <a:noFill/>
        </p:spPr>
        <p:txBody>
          <a:bodyPr wrap="square">
            <a:spAutoFit/>
          </a:bodyPr>
          <a:lstStyle/>
          <a:p>
            <a:pPr marR="0" lvl="0" algn="just">
              <a:spcBef>
                <a:spcPts val="0"/>
              </a:spcBef>
              <a:spcAft>
                <a:spcPts val="0"/>
              </a:spcAft>
            </a:pPr>
            <a:r>
              <a:rPr lang="en-US" sz="1800" dirty="0">
                <a:effectLst/>
                <a:ea typeface="Times New Roman" panose="02020603050405020304" pitchFamily="18" charset="0"/>
              </a:rPr>
              <a:t>2. When you are satisfied, print </a:t>
            </a:r>
            <a:r>
              <a:rPr lang="en-US" sz="1800" b="1" u="sng" dirty="0">
                <a:effectLst/>
                <a:ea typeface="Times New Roman" panose="02020603050405020304" pitchFamily="18" charset="0"/>
              </a:rPr>
              <a:t>one copy</a:t>
            </a:r>
            <a:r>
              <a:rPr lang="en-US" sz="1800" dirty="0">
                <a:effectLst/>
                <a:ea typeface="Times New Roman" panose="02020603050405020304" pitchFamily="18" charset="0"/>
              </a:rPr>
              <a:t> of the spreadsheet, write each lab partner’s name on it and submit it.</a:t>
            </a:r>
          </a:p>
        </p:txBody>
      </p:sp>
    </p:spTree>
    <p:extLst>
      <p:ext uri="{BB962C8B-B14F-4D97-AF65-F5344CB8AC3E}">
        <p14:creationId xmlns:p14="http://schemas.microsoft.com/office/powerpoint/2010/main" val="2417692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08D2-5638-6DBF-3F42-9433A39DA5E5}"/>
              </a:ext>
            </a:extLst>
          </p:cNvPr>
          <p:cNvSpPr>
            <a:spLocks noGrp="1"/>
          </p:cNvSpPr>
          <p:nvPr>
            <p:ph type="title"/>
          </p:nvPr>
        </p:nvSpPr>
        <p:spPr>
          <a:xfrm>
            <a:off x="677334" y="195943"/>
            <a:ext cx="8596668" cy="659363"/>
          </a:xfrm>
        </p:spPr>
        <p:txBody>
          <a:bodyPr/>
          <a:lstStyle/>
          <a:p>
            <a:r>
              <a:rPr lang="en-US" dirty="0">
                <a:solidFill>
                  <a:srgbClr val="1391BC"/>
                </a:solidFill>
              </a:rPr>
              <a:t>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691612-1B24-ACF0-4449-11D1E03D9CDD}"/>
                  </a:ext>
                </a:extLst>
              </p:cNvPr>
              <p:cNvSpPr>
                <a:spLocks noGrp="1"/>
              </p:cNvSpPr>
              <p:nvPr>
                <p:ph idx="1"/>
              </p:nvPr>
            </p:nvSpPr>
            <p:spPr>
              <a:xfrm>
                <a:off x="677334" y="1026367"/>
                <a:ext cx="8596668" cy="5635690"/>
              </a:xfrm>
            </p:spPr>
            <p:txBody>
              <a:bodyPr>
                <a:normAutofit/>
              </a:bodyPr>
              <a:lstStyle/>
              <a:p>
                <a:pPr marL="0" indent="0">
                  <a:buNone/>
                </a:pPr>
                <a:r>
                  <a:rPr lang="en-US" dirty="0"/>
                  <a:t>3.	Answer the following:</a:t>
                </a:r>
              </a:p>
              <a:p>
                <a:pPr marL="0" indent="0">
                  <a:buNone/>
                </a:pPr>
                <a:r>
                  <a:rPr lang="en-US" dirty="0"/>
                  <a:t>	a.	Give one random error encountered in this lab. State explicitly why it is 	a random error.</a:t>
                </a:r>
              </a:p>
              <a:p>
                <a:pPr marL="0" indent="0">
                  <a:buNone/>
                </a:pPr>
                <a:r>
                  <a:rPr lang="en-US" dirty="0"/>
                  <a:t>	b.	Give one systematic error encountered in this lab. State explicitly why it 	is a 	systematic error.</a:t>
                </a:r>
              </a:p>
              <a:p>
                <a:pPr marL="0" indent="0">
                  <a:buNone/>
                </a:pPr>
                <a:r>
                  <a:rPr lang="en-US" dirty="0"/>
                  <a:t>4.	Look carefully at your plots:</a:t>
                </a:r>
              </a:p>
              <a:p>
                <a:pPr marL="0" indent="0">
                  <a:buNone/>
                </a:pPr>
                <a:r>
                  <a:rPr lang="en-US" dirty="0"/>
                  <a:t>	a.	Were they linear? </a:t>
                </a:r>
              </a:p>
              <a:p>
                <a:pPr marL="0" indent="0">
                  <a:buNone/>
                </a:pPr>
                <a:r>
                  <a:rPr lang="en-US" dirty="0"/>
                  <a:t>	b.	What information can you gain by looking at the computed intercepts?</a:t>
                </a:r>
              </a:p>
              <a:p>
                <a:pPr marL="0" indent="0">
                  <a:buNone/>
                </a:pPr>
                <a:r>
                  <a:rPr lang="en-US" dirty="0"/>
                  <a:t>5.	How do your </a:t>
                </a:r>
                <a14:m>
                  <m:oMath xmlns:m="http://schemas.openxmlformats.org/officeDocument/2006/math">
                    <m:r>
                      <a:rPr lang="en-US" i="1" dirty="0" smtClean="0">
                        <a:latin typeface="Cambria Math" panose="02040503050406030204" pitchFamily="18" charset="0"/>
                      </a:rPr>
                      <m:t>𝜋</m:t>
                    </m:r>
                  </m:oMath>
                </a14:m>
                <a:r>
                  <a:rPr lang="en-US" dirty="0"/>
                  <a:t> values compare with the accepted value (3.1416)? Report % 	discrepancy and </a:t>
                </a:r>
                <a:r>
                  <a:rPr lang="en-US"/>
                  <a:t>% difference </a:t>
                </a:r>
                <a:r>
                  <a:rPr lang="en-US" dirty="0"/>
                  <a:t>from your spreadsheet.</a:t>
                </a:r>
              </a:p>
              <a:p>
                <a:pPr marL="0" indent="0">
                  <a:buNone/>
                </a:pPr>
                <a:r>
                  <a:rPr lang="en-US" dirty="0"/>
                  <a:t>6.	For </a:t>
                </a:r>
                <a14:m>
                  <m:oMath xmlns:m="http://schemas.openxmlformats.org/officeDocument/2006/math">
                    <m:r>
                      <a:rPr lang="en-US" i="1" dirty="0" smtClean="0">
                        <a:latin typeface="Cambria Math" panose="02040503050406030204" pitchFamily="18" charset="0"/>
                      </a:rPr>
                      <m:t>𝜋</m:t>
                    </m:r>
                  </m:oMath>
                </a14:m>
                <a:r>
                  <a:rPr lang="en-US" dirty="0"/>
                  <a:t> and </a:t>
                </a:r>
                <a14:m>
                  <m:oMath xmlns:m="http://schemas.openxmlformats.org/officeDocument/2006/math">
                    <m:r>
                      <a:rPr lang="en-US" i="1" dirty="0">
                        <a:latin typeface="Cambria Math" panose="02040503050406030204" pitchFamily="18" charset="0"/>
                        <a:ea typeface="Cambria Math" panose="02040503050406030204" pitchFamily="18" charset="0"/>
                      </a:rPr>
                      <m:t>𝜌</m:t>
                    </m:r>
                  </m:oMath>
                </a14:m>
                <a:r>
                  <a:rPr lang="en-US" dirty="0"/>
                  <a:t>, were your tabular or graphical values of better? Why or why 	not?</a:t>
                </a:r>
              </a:p>
              <a:p>
                <a:pPr marL="0" indent="0">
                  <a:buNone/>
                </a:pPr>
                <a:r>
                  <a:rPr lang="en-US" dirty="0"/>
                  <a:t>7.	Do you think your results were better for the small or large disks? Why or 	why not?</a:t>
                </a:r>
              </a:p>
              <a:p>
                <a:pPr marL="0" indent="0">
                  <a:buNone/>
                </a:pPr>
                <a:r>
                  <a:rPr lang="en-US" dirty="0"/>
                  <a:t>8.	Based on your </a:t>
                </a:r>
                <a14:m>
                  <m:oMath xmlns:m="http://schemas.openxmlformats.org/officeDocument/2006/math">
                    <m:r>
                      <a:rPr lang="en-US" i="1" dirty="0" smtClean="0">
                        <a:latin typeface="Cambria Math" panose="02040503050406030204" pitchFamily="18" charset="0"/>
                        <a:ea typeface="Cambria Math" panose="02040503050406030204" pitchFamily="18" charset="0"/>
                      </a:rPr>
                      <m:t>𝜌</m:t>
                    </m:r>
                  </m:oMath>
                </a14:m>
                <a:r>
                  <a:rPr lang="en-US" dirty="0"/>
                  <a:t> values, do you think all the disks were made of the same 	material? Why or why not?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88691612-1B24-ACF0-4449-11D1E03D9CDD}"/>
                  </a:ext>
                </a:extLst>
              </p:cNvPr>
              <p:cNvSpPr>
                <a:spLocks noAdjustHandles="1" noChangeArrowheads="1" noChangeAspect="1" noChangeShapeType="1" noEditPoints="1" noGrp="1" noMove="1" noResize="1" noRot="1" noTextEdit="1"/>
              </p:cNvSpPr>
              <p:nvPr>
                <p:ph idx="1"/>
              </p:nvPr>
            </p:nvSpPr>
            <p:spPr>
              <a:xfrm>
                <a:off x="677334" y="1026367"/>
                <a:ext cx="8596668" cy="5635690"/>
              </a:xfrm>
              <a:blipFill>
                <a:blip r:embed="rId2"/>
                <a:stretch>
                  <a:fillRect b="-1405" l="-567" r="-1348" t="-649"/>
                </a:stretch>
              </a:blipFill>
            </p:spPr>
            <p:txBody>
              <a:bodyPr/>
              <a:lstStyle/>
              <a:p>
                <a:r>
                  <a:rPr lang="en-US">
                    <a:noFill/>
                  </a:rPr>
                  <a:t> </a:t>
                </a:r>
              </a:p>
            </p:txBody>
          </p:sp>
        </mc:Fallback>
      </mc:AlternateContent>
    </p:spTree>
    <p:extLst>
      <p:ext uri="{BB962C8B-B14F-4D97-AF65-F5344CB8AC3E}">
        <p14:creationId xmlns:p14="http://schemas.microsoft.com/office/powerpoint/2010/main" val="447191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B5494-17A0-E60F-EF0B-C0D0BDD85F81}"/>
              </a:ext>
            </a:extLst>
          </p:cNvPr>
          <p:cNvSpPr>
            <a:spLocks noGrp="1"/>
          </p:cNvSpPr>
          <p:nvPr>
            <p:ph type="title"/>
          </p:nvPr>
        </p:nvSpPr>
        <p:spPr>
          <a:xfrm>
            <a:off x="677334" y="609600"/>
            <a:ext cx="8596668" cy="817984"/>
          </a:xfrm>
        </p:spPr>
        <p:txBody>
          <a:bodyPr/>
          <a:lstStyle/>
          <a:p>
            <a:r>
              <a:rPr lang="en-US" dirty="0">
                <a:solidFill>
                  <a:srgbClr val="1391BC"/>
                </a:solidFill>
              </a:rPr>
              <a:t>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CD23D2-DA87-AD59-BE70-B3FF1F18C1C8}"/>
                  </a:ext>
                </a:extLst>
              </p:cNvPr>
              <p:cNvSpPr>
                <a:spLocks noGrp="1"/>
              </p:cNvSpPr>
              <p:nvPr>
                <p:ph idx="1"/>
              </p:nvPr>
            </p:nvSpPr>
            <p:spPr>
              <a:xfrm>
                <a:off x="677334" y="1502229"/>
                <a:ext cx="8596668" cy="4539133"/>
              </a:xfrm>
            </p:spPr>
            <p:txBody>
              <a:bodyPr/>
              <a:lstStyle/>
              <a:p>
                <a:r>
                  <a:rPr lang="en-US" sz="2400" dirty="0"/>
                  <a:t>Lab Procedure:</a:t>
                </a:r>
              </a:p>
              <a:p>
                <a:pPr lvl="1"/>
                <a:r>
                  <a:rPr lang="en-US" sz="2000" dirty="0"/>
                  <a:t>Measure:  </a:t>
                </a:r>
              </a:p>
              <a:p>
                <a:pPr lvl="2"/>
                <a:r>
                  <a:rPr lang="en-US" sz="1800" dirty="0"/>
                  <a:t>_ Circumference</a:t>
                </a:r>
              </a:p>
              <a:p>
                <a:pPr lvl="2"/>
                <a:r>
                  <a:rPr lang="en-US" sz="1800" dirty="0"/>
                  <a:t> _Diameter</a:t>
                </a:r>
              </a:p>
              <a:p>
                <a:pPr lvl="2"/>
                <a:r>
                  <a:rPr lang="en-US" sz="1800" dirty="0"/>
                  <a:t>_Thickness </a:t>
                </a:r>
              </a:p>
              <a:p>
                <a:pPr lvl="2"/>
                <a:r>
                  <a:rPr lang="en-US" sz="1800" dirty="0"/>
                  <a:t>_Mass</a:t>
                </a:r>
              </a:p>
              <a:p>
                <a:pPr lvl="1"/>
                <a:r>
                  <a:rPr lang="en-US" sz="2000" dirty="0"/>
                  <a:t>Construct a spreadsheet</a:t>
                </a:r>
              </a:p>
              <a:p>
                <a:pPr lvl="1"/>
                <a:r>
                  <a:rPr lang="en-US" sz="2000" dirty="0"/>
                  <a:t>Put your graphical </a:t>
                </a:r>
                <a14:m>
                  <m:oMath xmlns:m="http://schemas.openxmlformats.org/officeDocument/2006/math">
                    <m:r>
                      <a:rPr lang="en-US" sz="2000" i="1" dirty="0" smtClean="0">
                        <a:latin typeface="Cambria Math" panose="02040503050406030204" pitchFamily="18" charset="0"/>
                      </a:rPr>
                      <m:t>𝜋</m:t>
                    </m:r>
                    <m:r>
                      <a:rPr lang="en-US" sz="2000" i="1" dirty="0" smtClean="0">
                        <a:latin typeface="Cambria Math" panose="02040503050406030204" pitchFamily="18" charset="0"/>
                      </a:rPr>
                      <m:t> </m:t>
                    </m:r>
                  </m:oMath>
                </a14:m>
                <a:r>
                  <a:rPr lang="en-US" sz="2000" dirty="0"/>
                  <a:t>and </a:t>
                </a:r>
                <a14:m>
                  <m:oMath xmlns:m="http://schemas.openxmlformats.org/officeDocument/2006/math">
                    <m:r>
                      <a:rPr lang="en-US" sz="2000" i="1" dirty="0" smtClean="0">
                        <a:latin typeface="Cambria Math" panose="02040503050406030204" pitchFamily="18" charset="0"/>
                      </a:rPr>
                      <m:t>𝜌</m:t>
                    </m:r>
                  </m:oMath>
                </a14:m>
                <a:r>
                  <a:rPr lang="en-US" sz="2000" dirty="0"/>
                  <a:t> values on the slide</a:t>
                </a:r>
              </a:p>
              <a:p>
                <a:pPr lvl="1"/>
                <a:r>
                  <a:rPr lang="en-US" sz="2000" dirty="0"/>
                  <a:t>Answer Analysis Questions</a:t>
                </a:r>
              </a:p>
              <a:p>
                <a:pPr lvl="1"/>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E9CD23D2-DA87-AD59-BE70-B3FF1F18C1C8}"/>
                  </a:ext>
                </a:extLst>
              </p:cNvPr>
              <p:cNvSpPr>
                <a:spLocks noAdjustHandles="1" noChangeArrowheads="1" noChangeAspect="1" noChangeShapeType="1" noEditPoints="1" noGrp="1" noMove="1" noResize="1" noRot="1" noTextEdit="1"/>
              </p:cNvSpPr>
              <p:nvPr>
                <p:ph idx="1"/>
              </p:nvPr>
            </p:nvSpPr>
            <p:spPr>
              <a:xfrm>
                <a:off x="677334" y="1502229"/>
                <a:ext cx="8596668" cy="4539133"/>
              </a:xfrm>
              <a:blipFill>
                <a:blip r:embed="rId2"/>
                <a:stretch>
                  <a:fillRect l="-567" t="-1074"/>
                </a:stretch>
              </a:blipFill>
            </p:spPr>
            <p:txBody>
              <a:bodyPr/>
              <a:lstStyle/>
              <a:p>
                <a:r>
                  <a:rPr lang="en-US">
                    <a:noFill/>
                  </a:rPr>
                  <a:t> </a:t>
                </a:r>
              </a:p>
            </p:txBody>
          </p:sp>
        </mc:Fallback>
      </mc:AlternateContent>
    </p:spTree>
    <p:extLst>
      <p:ext uri="{BB962C8B-B14F-4D97-AF65-F5344CB8AC3E}">
        <p14:creationId xmlns:p14="http://schemas.microsoft.com/office/powerpoint/2010/main" val="39591818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1F712DCF4E89E4CBCEEA755EF81E88A" ma:contentTypeVersion="14" ma:contentTypeDescription="Create a new document." ma:contentTypeScope="" ma:versionID="320b06b9f9ec334549f95c39935f75f4">
  <xsd:schema xmlns:xsd="http://www.w3.org/2001/XMLSchema" xmlns:xs="http://www.w3.org/2001/XMLSchema" xmlns:p="http://schemas.microsoft.com/office/2006/metadata/properties" xmlns:ns3="4a651b0c-7ca9-450b-9469-de02b14c7408" xmlns:ns4="f6a62fc0-733e-42ba-a4be-6c891c8a1bad" targetNamespace="http://schemas.microsoft.com/office/2006/metadata/properties" ma:root="true" ma:fieldsID="fe10c24339d7c470f32f716063de2098" ns3:_="" ns4:_="">
    <xsd:import namespace="4a651b0c-7ca9-450b-9469-de02b14c7408"/>
    <xsd:import namespace="f6a62fc0-733e-42ba-a4be-6c891c8a1b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1b0c-7ca9-450b-9469-de02b14c740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a62fc0-733e-42ba-a4be-6c891c8a1ba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446552-B557-46B8-BEC4-D4B459FF8DDC}">
  <ds:schemaRefs>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f6a62fc0-733e-42ba-a4be-6c891c8a1bad"/>
    <ds:schemaRef ds:uri="4a651b0c-7ca9-450b-9469-de02b14c7408"/>
    <ds:schemaRef ds:uri="http://www.w3.org/XML/1998/namespace"/>
  </ds:schemaRefs>
</ds:datastoreItem>
</file>

<file path=customXml/itemProps2.xml><?xml version="1.0" encoding="utf-8"?>
<ds:datastoreItem xmlns:ds="http://schemas.openxmlformats.org/officeDocument/2006/customXml" ds:itemID="{6AB93822-2944-4290-B4C6-D777A931F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1b0c-7ca9-450b-9469-de02b14c7408"/>
    <ds:schemaRef ds:uri="f6a62fc0-733e-42ba-a4be-6c891c8a1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25624F-0EAC-4094-AA61-F8B3C677E67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12477</TotalTime>
  <Words>728</Words>
  <Application>Microsoft Office PowerPoint</Application>
  <PresentationFormat>Widescreen</PresentationFormat>
  <Paragraphs>88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Cambria Math</vt:lpstr>
      <vt:lpstr>Times New Roman</vt:lpstr>
      <vt:lpstr>Trebuchet MS</vt:lpstr>
      <vt:lpstr>Wingdings 3</vt:lpstr>
      <vt:lpstr>Facet</vt:lpstr>
      <vt:lpstr>Lab 3:  Measurement of Pi and Density</vt:lpstr>
      <vt:lpstr>Introduction</vt:lpstr>
      <vt:lpstr>Introduction</vt:lpstr>
      <vt:lpstr>Objectives</vt:lpstr>
      <vt:lpstr>Procedure</vt:lpstr>
      <vt:lpstr>Analysis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Patrick Hearin</dc:creator>
  <cp:lastModifiedBy>Tyrone Clinton</cp:lastModifiedBy>
  <cp:revision>101</cp:revision>
  <dcterms:created xsi:type="dcterms:W3CDTF">2015-03-02T04:15:14Z</dcterms:created>
  <dcterms:modified xsi:type="dcterms:W3CDTF">2026-02-03T16:58:20Z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0x01010071F712DCF4E89E4CBCEEA755EF81E88A</vt:lpwstr>
  </property>
</Properties>
</file>